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6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7.xml" ContentType="application/vnd.openxmlformats-officedocument.presentationml.notesSl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8.xml" ContentType="application/vnd.openxmlformats-officedocument.presentationml.notesSl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notesSlides/notesSlide9.xml" ContentType="application/vnd.openxmlformats-officedocument.presentationml.notesSlid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notesSlides/notesSlide10.xml" ContentType="application/vnd.openxmlformats-officedocument.presentationml.notesSlid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8" r:id="rId4"/>
  </p:sldMasterIdLst>
  <p:notesMasterIdLst>
    <p:notesMasterId r:id="rId19"/>
  </p:notesMasterIdLst>
  <p:handoutMasterIdLst>
    <p:handoutMasterId r:id="rId20"/>
  </p:handoutMasterIdLst>
  <p:sldIdLst>
    <p:sldId id="400" r:id="rId5"/>
    <p:sldId id="409" r:id="rId6"/>
    <p:sldId id="391" r:id="rId7"/>
    <p:sldId id="408" r:id="rId8"/>
    <p:sldId id="407" r:id="rId9"/>
    <p:sldId id="261" r:id="rId10"/>
    <p:sldId id="404" r:id="rId11"/>
    <p:sldId id="270" r:id="rId12"/>
    <p:sldId id="413" r:id="rId13"/>
    <p:sldId id="405" r:id="rId14"/>
    <p:sldId id="401" r:id="rId15"/>
    <p:sldId id="406" r:id="rId16"/>
    <p:sldId id="265" r:id="rId17"/>
    <p:sldId id="41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5841" autoAdjust="0"/>
    <p:restoredTop sz="95135" autoAdjust="0"/>
  </p:normalViewPr>
  <p:slideViewPr>
    <p:cSldViewPr snapToGrid="0">
      <p:cViewPr varScale="1">
        <p:scale>
          <a:sx n="78" d="100"/>
          <a:sy n="78" d="100"/>
        </p:scale>
        <p:origin x="208" y="8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90" d="100"/>
        <a:sy n="90" d="100"/>
      </p:scale>
      <p:origin x="0" y="-1426"/>
    </p:cViewPr>
  </p:sorterViewPr>
  <p:notesViewPr>
    <p:cSldViewPr snapToGrid="0">
      <p:cViewPr varScale="1">
        <p:scale>
          <a:sx n="62" d="100"/>
          <a:sy n="62" d="100"/>
        </p:scale>
        <p:origin x="226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sabondlovu/Desktop/Bright_coffee_shop_Queries_Draft.xlsx" TargetMode="Externa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sabondlovu/Desktop/Bright_coffee_shop_Queries_Draft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sabondlovu/Desktop/Bright_coffee_shop_Queries_Draft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sabondlovu/Desktop/Bright_coffee_shop_Queries_Draft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\sabondlovu\Desktop\Bright_coffee_shop_Queries_Draft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sabondlovu/Desktop/Bright_coffee_shop_Queries_Draft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sabondlovu/Desktop/Bright_coffee_shop_Queries_Draft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sabondlovu/Desktop/Bright_coffee_shop_Queries_Draft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sabondlovu/Desktop/Bright_coffee_shop_Queries_Draft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sabondlovu/Desktop/Bright_coffee_shop_Queries_Draft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sabondlovu/Desktop/Bright_coffee_shop_Queries_Draft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[Bright_coffee_shop_Queries_Draft.xlsx]Sales by month!PivotTable42</c:name>
    <c:fmtId val="2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/>
              <a:t>Total Sales </a:t>
            </a:r>
          </a:p>
        </c:rich>
      </c:tx>
      <c:layout>
        <c:manualLayout>
          <c:xMode val="edge"/>
          <c:yMode val="edge"/>
          <c:x val="0.49202045370989539"/>
          <c:y val="4.6295033203181332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6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circle"/>
          <c:size val="8"/>
          <c:spPr>
            <a:solidFill>
              <a:schemeClr val="accent6"/>
            </a:solidFill>
            <a:ln w="9525">
              <a:noFill/>
              <a:round/>
            </a:ln>
            <a:effectLst/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 prst="hardEdge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6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6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'Sales by month'!$A$42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6">
                    <a:tint val="96000"/>
                    <a:lumMod val="104000"/>
                  </a:schemeClr>
                </a:gs>
                <a:gs pos="100000">
                  <a:schemeClr val="accent6">
                    <a:shade val="90000"/>
                    <a:lumMod val="90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76200" dist="38100" dir="5400000" rotWithShape="0">
                <a:srgbClr val="000000">
                  <a:alpha val="7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 prst="hardEdge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'Sales by month'!$A$43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'Sales by month'!$A$43</c:f>
              <c:numCache>
                <c:formatCode>"R"#\ ##0.00</c:formatCode>
                <c:ptCount val="1"/>
                <c:pt idx="0">
                  <c:v>698812.32999992883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610-C946-B5A4-07D045E697A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462520319"/>
        <c:axId val="363541183"/>
      </c:barChart>
      <c:catAx>
        <c:axId val="4625203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63541183"/>
        <c:crosses val="autoZero"/>
        <c:auto val="1"/>
        <c:lblAlgn val="ctr"/>
        <c:lblOffset val="100"/>
        <c:noMultiLvlLbl val="0"/>
      </c:catAx>
      <c:valAx>
        <c:axId val="3635411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&quot;R&quot;#\ 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6252031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[Bright_coffee_shop_Queries_Draft.xlsx]Sales by month!PivotTable29</c:name>
    <c:fmtId val="1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/>
              <a:t>TotalSales by month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lumMod val="110000"/>
                  <a:satMod val="105000"/>
                  <a:tint val="67000"/>
                </a:schemeClr>
              </a:gs>
              <a:gs pos="50000">
                <a:schemeClr val="accent1">
                  <a:lumMod val="105000"/>
                  <a:satMod val="103000"/>
                  <a:tint val="73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 w="22225" cap="rnd" cmpd="sng" algn="ctr">
            <a:solidFill>
              <a:schemeClr val="accent1"/>
            </a:solidFill>
            <a:round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circle"/>
          <c:size val="4"/>
          <c:spPr>
            <a:solidFill>
              <a:schemeClr val="accent1"/>
            </a:solidFill>
            <a:ln w="9525" cap="flat" cmpd="sng" algn="ctr">
              <a:solidFill>
                <a:schemeClr val="accent1"/>
              </a:solidFill>
              <a:round/>
            </a:ln>
            <a:effectLst/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 prst="hardEdge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lumMod val="110000"/>
                  <a:satMod val="105000"/>
                  <a:tint val="67000"/>
                </a:schemeClr>
              </a:gs>
              <a:gs pos="50000">
                <a:schemeClr val="accent1">
                  <a:lumMod val="105000"/>
                  <a:satMod val="103000"/>
                  <a:tint val="73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 w="22225" cap="rnd" cmpd="sng" algn="ctr">
            <a:solidFill>
              <a:schemeClr val="accent1"/>
            </a:solidFill>
            <a:round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circle"/>
          <c:size val="4"/>
          <c:spPr>
            <a:solidFill>
              <a:schemeClr val="accent1"/>
            </a:solidFill>
            <a:ln w="9525" cap="flat" cmpd="sng" algn="ctr">
              <a:solidFill>
                <a:schemeClr val="accent1"/>
              </a:solidFill>
              <a:round/>
            </a:ln>
            <a:effectLst/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 prst="hardEdge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tint val="96000"/>
                  <a:lumMod val="104000"/>
                </a:schemeClr>
              </a:gs>
              <a:gs pos="100000">
                <a:schemeClr val="accent1">
                  <a:shade val="90000"/>
                  <a:lumMod val="90000"/>
                </a:schemeClr>
              </a:gs>
            </a:gsLst>
            <a:lin ang="5400000" scaled="0"/>
          </a:gradFill>
          <a:ln w="22225" cap="rnd" cmpd="sng" algn="ctr">
            <a:solidFill>
              <a:schemeClr val="accent1"/>
            </a:solidFill>
            <a:round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circle"/>
          <c:size val="4"/>
          <c:spPr>
            <a:solidFill>
              <a:schemeClr val="accent1"/>
            </a:solidFill>
            <a:ln w="9525" cap="flat" cmpd="sng" algn="ctr">
              <a:solidFill>
                <a:schemeClr val="accent1"/>
              </a:solidFill>
              <a:round/>
            </a:ln>
            <a:effectLst/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 prst="hardEdge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cked"/>
        <c:varyColors val="0"/>
        <c:ser>
          <c:idx val="0"/>
          <c:order val="0"/>
          <c:tx>
            <c:strRef>
              <c:f>'Sales by month'!$B$3</c:f>
              <c:strCache>
                <c:ptCount val="1"/>
                <c:pt idx="0">
                  <c:v>Total</c:v>
                </c:pt>
              </c:strCache>
            </c:strRef>
          </c:tx>
          <c:spPr>
            <a:ln w="34925" cap="rnd">
              <a:solidFill>
                <a:schemeClr val="accent1"/>
              </a:solidFill>
              <a:round/>
            </a:ln>
            <a:effectLst>
              <a:outerShdw blurRad="76200" dist="38100" dir="5400000" rotWithShape="0">
                <a:srgbClr val="000000">
                  <a:alpha val="75000"/>
                </a:srgbClr>
              </a:outerShdw>
            </a:effectLst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'Sales by month'!$A$4:$A$10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'Sales by month'!$B$4:$B$10</c:f>
              <c:numCache>
                <c:formatCode>"R"#\ ##0.00</c:formatCode>
                <c:ptCount val="6"/>
                <c:pt idx="0">
                  <c:v>81677.739999999278</c:v>
                </c:pt>
                <c:pt idx="1">
                  <c:v>76145.18999999958</c:v>
                </c:pt>
                <c:pt idx="2">
                  <c:v>98834.680000000008</c:v>
                </c:pt>
                <c:pt idx="3">
                  <c:v>118941.08000000106</c:v>
                </c:pt>
                <c:pt idx="4">
                  <c:v>156727.76000000449</c:v>
                </c:pt>
                <c:pt idx="5">
                  <c:v>166485.88000000533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324-4641-8C56-1D982E3387FA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398362367"/>
        <c:axId val="398367295"/>
      </c:lineChart>
      <c:catAx>
        <c:axId val="3983623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lt1">
                <a:lumMod val="95000"/>
                <a:alpha val="1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98367295"/>
        <c:crosses val="autoZero"/>
        <c:auto val="1"/>
        <c:lblAlgn val="ctr"/>
        <c:lblOffset val="100"/>
        <c:noMultiLvlLbl val="0"/>
      </c:catAx>
      <c:valAx>
        <c:axId val="39836729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&quot;R&quot;#\ 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9836236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[Bright_coffee_shop_Queries_Draft.xlsx]Sales,location,month!PivotTable30</c:name>
    <c:fmtId val="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 dirty="0"/>
              <a:t>Total Sales By Month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c:spPr>
      </c:pivotFmt>
      <c:pivotFmt>
        <c:idx val="5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c:spPr>
      </c:pivotFmt>
      <c:pivotFmt>
        <c:idx val="6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c:spPr>
      </c:pivotFmt>
      <c:pivotFmt>
        <c:idx val="7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c:spPr>
      </c:pivotFmt>
      <c:pivotFmt>
        <c:idx val="8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c:spPr>
      </c:pivotFmt>
      <c:pivotFmt>
        <c:idx val="9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c:spPr>
      </c:pivotFmt>
      <c:pivotFmt>
        <c:idx val="10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c:spPr>
      </c:pivotFmt>
      <c:pivotFmt>
        <c:idx val="12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c:spPr>
      </c:pivotFmt>
      <c:pivotFmt>
        <c:idx val="13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c:spPr>
      </c:pivotFmt>
      <c:pivotFmt>
        <c:idx val="14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c:spPr>
      </c:pivotFmt>
      <c:pivotFmt>
        <c:idx val="15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c:spPr>
      </c:pivotFmt>
      <c:pivotFmt>
        <c:idx val="16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c:spPr>
      </c:pivotFmt>
      <c:pivotFmt>
        <c:idx val="17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c:spPr>
      </c:pivotFmt>
      <c:pivotFmt>
        <c:idx val="19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c:spPr>
      </c:pivotFmt>
      <c:pivotFmt>
        <c:idx val="20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c:spPr>
      </c:pivotFmt>
      <c:pivotFmt>
        <c:idx val="21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c:spPr>
      </c:pivotFmt>
      <c:pivotFmt>
        <c:idx val="22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c:spPr>
      </c:pivotFmt>
      <c:pivotFmt>
        <c:idx val="23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c:spPr>
      </c:pivotFmt>
      <c:pivotFmt>
        <c:idx val="24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c:spPr>
      </c:pivotFmt>
      <c:pivotFmt>
        <c:idx val="26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c:spPr>
      </c:pivotFmt>
      <c:pivotFmt>
        <c:idx val="27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c:spPr>
      </c:pivotFmt>
      <c:pivotFmt>
        <c:idx val="28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c:spPr>
      </c:pivotFmt>
      <c:pivotFmt>
        <c:idx val="29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c:spPr>
      </c:pivotFmt>
      <c:pivotFmt>
        <c:idx val="30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c:spPr>
      </c:pivotFmt>
      <c:pivotFmt>
        <c:idx val="31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2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c:spPr>
      </c:pivotFmt>
      <c:pivotFmt>
        <c:idx val="33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c:spPr>
      </c:pivotFmt>
      <c:pivotFmt>
        <c:idx val="34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c:spPr>
      </c:pivotFmt>
      <c:pivotFmt>
        <c:idx val="35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c:spPr>
      </c:pivotFmt>
      <c:pivotFmt>
        <c:idx val="36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c:spPr>
      </c:pivotFmt>
      <c:pivotFmt>
        <c:idx val="37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c:spPr>
      </c:pivotFmt>
      <c:pivotFmt>
        <c:idx val="38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9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c:spPr>
      </c:pivotFmt>
      <c:pivotFmt>
        <c:idx val="40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c:spPr>
      </c:pivotFmt>
      <c:pivotFmt>
        <c:idx val="41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c:spPr>
      </c:pivotFmt>
      <c:pivotFmt>
        <c:idx val="42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c:spPr>
      </c:pivotFmt>
      <c:pivotFmt>
        <c:idx val="43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c:spPr>
      </c:pivotFmt>
      <c:pivotFmt>
        <c:idx val="44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c:spPr>
      </c:pivotFmt>
    </c:pivotFmts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6.6410255102967927E-2"/>
          <c:y val="8.7809687148428794E-2"/>
          <c:w val="0.92750204237715317"/>
          <c:h val="0.90359686644590842"/>
        </c:manualLayout>
      </c:layout>
      <c:pie3DChart>
        <c:varyColors val="1"/>
        <c:ser>
          <c:idx val="0"/>
          <c:order val="0"/>
          <c:tx>
            <c:strRef>
              <c:f>'Sales,location,month'!$B$6:$B$7</c:f>
              <c:strCache>
                <c:ptCount val="1"/>
                <c:pt idx="0">
                  <c:v>Astoria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tint val="96000"/>
                      <a:lumMod val="104000"/>
                    </a:schemeClr>
                  </a:gs>
                  <a:gs pos="100000">
                    <a:schemeClr val="accent1">
                      <a:shade val="90000"/>
                      <a:lumMod val="90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76200" dist="38100" dir="5400000" rotWithShape="0">
                  <a:srgbClr val="000000">
                    <a:alpha val="7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 prst="hardEdge"/>
              </a:sp3d>
            </c:spPr>
            <c:extLst>
              <c:ext xmlns:c16="http://schemas.microsoft.com/office/drawing/2014/chart" uri="{C3380CC4-5D6E-409C-BE32-E72D297353CC}">
                <c16:uniqueId val="{00000001-CBC1-3C4D-99D9-FCAFB5FD9C33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tint val="96000"/>
                      <a:lumMod val="104000"/>
                    </a:schemeClr>
                  </a:gs>
                  <a:gs pos="100000">
                    <a:schemeClr val="accent2">
                      <a:shade val="90000"/>
                      <a:lumMod val="90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76200" dist="38100" dir="5400000" rotWithShape="0">
                  <a:srgbClr val="000000">
                    <a:alpha val="7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 prst="hardEdge"/>
              </a:sp3d>
            </c:spPr>
            <c:extLst>
              <c:ext xmlns:c16="http://schemas.microsoft.com/office/drawing/2014/chart" uri="{C3380CC4-5D6E-409C-BE32-E72D297353CC}">
                <c16:uniqueId val="{00000003-CBC1-3C4D-99D9-FCAFB5FD9C33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tint val="96000"/>
                      <a:lumMod val="104000"/>
                    </a:schemeClr>
                  </a:gs>
                  <a:gs pos="100000">
                    <a:schemeClr val="accent3">
                      <a:shade val="90000"/>
                      <a:lumMod val="90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76200" dist="38100" dir="5400000" rotWithShape="0">
                  <a:srgbClr val="000000">
                    <a:alpha val="7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 prst="hardEdge"/>
              </a:sp3d>
            </c:spPr>
            <c:extLst>
              <c:ext xmlns:c16="http://schemas.microsoft.com/office/drawing/2014/chart" uri="{C3380CC4-5D6E-409C-BE32-E72D297353CC}">
                <c16:uniqueId val="{00000005-CBC1-3C4D-99D9-FCAFB5FD9C33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4">
                      <a:tint val="96000"/>
                      <a:lumMod val="104000"/>
                    </a:schemeClr>
                  </a:gs>
                  <a:gs pos="100000">
                    <a:schemeClr val="accent4">
                      <a:shade val="90000"/>
                      <a:lumMod val="90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76200" dist="38100" dir="5400000" rotWithShape="0">
                  <a:srgbClr val="000000">
                    <a:alpha val="7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 prst="hardEdge"/>
              </a:sp3d>
            </c:spPr>
            <c:extLst>
              <c:ext xmlns:c16="http://schemas.microsoft.com/office/drawing/2014/chart" uri="{C3380CC4-5D6E-409C-BE32-E72D297353CC}">
                <c16:uniqueId val="{00000007-CBC1-3C4D-99D9-FCAFB5FD9C33}"/>
              </c:ext>
            </c:extLst>
          </c:dPt>
          <c:dPt>
            <c:idx val="4"/>
            <c:bubble3D val="0"/>
            <c:spPr>
              <a:gradFill rotWithShape="1">
                <a:gsLst>
                  <a:gs pos="0">
                    <a:schemeClr val="accent5">
                      <a:tint val="96000"/>
                      <a:lumMod val="104000"/>
                    </a:schemeClr>
                  </a:gs>
                  <a:gs pos="100000">
                    <a:schemeClr val="accent5">
                      <a:shade val="90000"/>
                      <a:lumMod val="90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76200" dist="38100" dir="5400000" rotWithShape="0">
                  <a:srgbClr val="000000">
                    <a:alpha val="7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 prst="hardEdge"/>
              </a:sp3d>
            </c:spPr>
            <c:extLst>
              <c:ext xmlns:c16="http://schemas.microsoft.com/office/drawing/2014/chart" uri="{C3380CC4-5D6E-409C-BE32-E72D297353CC}">
                <c16:uniqueId val="{00000009-CBC1-3C4D-99D9-FCAFB5FD9C33}"/>
              </c:ext>
            </c:extLst>
          </c:dPt>
          <c:dPt>
            <c:idx val="5"/>
            <c:bubble3D val="0"/>
            <c:explosion val="5"/>
            <c:spPr>
              <a:gradFill rotWithShape="1">
                <a:gsLst>
                  <a:gs pos="0">
                    <a:schemeClr val="accent6">
                      <a:tint val="96000"/>
                      <a:lumMod val="104000"/>
                    </a:schemeClr>
                  </a:gs>
                  <a:gs pos="100000">
                    <a:schemeClr val="accent6">
                      <a:shade val="90000"/>
                      <a:lumMod val="90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76200" dist="38100" dir="5400000" rotWithShape="0">
                  <a:srgbClr val="000000">
                    <a:alpha val="7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 prst="hardEdge"/>
              </a:sp3d>
            </c:spPr>
            <c:extLst>
              <c:ext xmlns:c16="http://schemas.microsoft.com/office/drawing/2014/chart" uri="{C3380CC4-5D6E-409C-BE32-E72D297353CC}">
                <c16:uniqueId val="{0000000B-CBC1-3C4D-99D9-FCAFB5FD9C33}"/>
              </c:ext>
            </c:extLst>
          </c:dPt>
          <c:cat>
            <c:strRef>
              <c:f>'Sales,location,month'!$A$8:$A$14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'Sales,location,month'!$B$8:$B$14</c:f>
              <c:numCache>
                <c:formatCode>General</c:formatCode>
                <c:ptCount val="6"/>
                <c:pt idx="0">
                  <c:v>27313.660000000076</c:v>
                </c:pt>
                <c:pt idx="1">
                  <c:v>25105.340000000077</c:v>
                </c:pt>
                <c:pt idx="2">
                  <c:v>32835.430000000029</c:v>
                </c:pt>
                <c:pt idx="3">
                  <c:v>39477.609999999833</c:v>
                </c:pt>
                <c:pt idx="4">
                  <c:v>52428.759999999318</c:v>
                </c:pt>
                <c:pt idx="5">
                  <c:v>55083.109999999266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CBC1-3C4D-99D9-FCAFB5FD9C33}"/>
            </c:ext>
          </c:extLst>
        </c:ser>
        <c:ser>
          <c:idx val="1"/>
          <c:order val="1"/>
          <c:tx>
            <c:strRef>
              <c:f>'Sales,location,month'!$C$6:$C$7</c:f>
              <c:strCache>
                <c:ptCount val="1"/>
                <c:pt idx="0">
                  <c:v>Hell's Kitchen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tint val="96000"/>
                      <a:lumMod val="104000"/>
                    </a:schemeClr>
                  </a:gs>
                  <a:gs pos="100000">
                    <a:schemeClr val="accent1">
                      <a:shade val="90000"/>
                      <a:lumMod val="90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76200" dist="38100" dir="5400000" rotWithShape="0">
                  <a:srgbClr val="000000">
                    <a:alpha val="7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 prst="hardEdge"/>
              </a:sp3d>
            </c:spPr>
            <c:extLst>
              <c:ext xmlns:c16="http://schemas.microsoft.com/office/drawing/2014/chart" uri="{C3380CC4-5D6E-409C-BE32-E72D297353CC}">
                <c16:uniqueId val="{0000000E-CBC1-3C4D-99D9-FCAFB5FD9C33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tint val="96000"/>
                      <a:lumMod val="104000"/>
                    </a:schemeClr>
                  </a:gs>
                  <a:gs pos="100000">
                    <a:schemeClr val="accent2">
                      <a:shade val="90000"/>
                      <a:lumMod val="90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76200" dist="38100" dir="5400000" rotWithShape="0">
                  <a:srgbClr val="000000">
                    <a:alpha val="7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 prst="hardEdge"/>
              </a:sp3d>
            </c:spPr>
            <c:extLst>
              <c:ext xmlns:c16="http://schemas.microsoft.com/office/drawing/2014/chart" uri="{C3380CC4-5D6E-409C-BE32-E72D297353CC}">
                <c16:uniqueId val="{00000010-CBC1-3C4D-99D9-FCAFB5FD9C33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tint val="96000"/>
                      <a:lumMod val="104000"/>
                    </a:schemeClr>
                  </a:gs>
                  <a:gs pos="100000">
                    <a:schemeClr val="accent3">
                      <a:shade val="90000"/>
                      <a:lumMod val="90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76200" dist="38100" dir="5400000" rotWithShape="0">
                  <a:srgbClr val="000000">
                    <a:alpha val="7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 prst="hardEdge"/>
              </a:sp3d>
            </c:spPr>
            <c:extLst>
              <c:ext xmlns:c16="http://schemas.microsoft.com/office/drawing/2014/chart" uri="{C3380CC4-5D6E-409C-BE32-E72D297353CC}">
                <c16:uniqueId val="{00000012-CBC1-3C4D-99D9-FCAFB5FD9C33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4">
                      <a:tint val="96000"/>
                      <a:lumMod val="104000"/>
                    </a:schemeClr>
                  </a:gs>
                  <a:gs pos="100000">
                    <a:schemeClr val="accent4">
                      <a:shade val="90000"/>
                      <a:lumMod val="90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76200" dist="38100" dir="5400000" rotWithShape="0">
                  <a:srgbClr val="000000">
                    <a:alpha val="7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 prst="hardEdge"/>
              </a:sp3d>
            </c:spPr>
            <c:extLst>
              <c:ext xmlns:c16="http://schemas.microsoft.com/office/drawing/2014/chart" uri="{C3380CC4-5D6E-409C-BE32-E72D297353CC}">
                <c16:uniqueId val="{00000014-CBC1-3C4D-99D9-FCAFB5FD9C33}"/>
              </c:ext>
            </c:extLst>
          </c:dPt>
          <c:dPt>
            <c:idx val="4"/>
            <c:bubble3D val="0"/>
            <c:spPr>
              <a:gradFill rotWithShape="1">
                <a:gsLst>
                  <a:gs pos="0">
                    <a:schemeClr val="accent5">
                      <a:tint val="96000"/>
                      <a:lumMod val="104000"/>
                    </a:schemeClr>
                  </a:gs>
                  <a:gs pos="100000">
                    <a:schemeClr val="accent5">
                      <a:shade val="90000"/>
                      <a:lumMod val="90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76200" dist="38100" dir="5400000" rotWithShape="0">
                  <a:srgbClr val="000000">
                    <a:alpha val="7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 prst="hardEdge"/>
              </a:sp3d>
            </c:spPr>
            <c:extLst>
              <c:ext xmlns:c16="http://schemas.microsoft.com/office/drawing/2014/chart" uri="{C3380CC4-5D6E-409C-BE32-E72D297353CC}">
                <c16:uniqueId val="{00000016-CBC1-3C4D-99D9-FCAFB5FD9C33}"/>
              </c:ext>
            </c:extLst>
          </c:dPt>
          <c:dPt>
            <c:idx val="5"/>
            <c:bubble3D val="0"/>
            <c:spPr>
              <a:gradFill rotWithShape="1">
                <a:gsLst>
                  <a:gs pos="0">
                    <a:schemeClr val="accent6">
                      <a:tint val="96000"/>
                      <a:lumMod val="104000"/>
                    </a:schemeClr>
                  </a:gs>
                  <a:gs pos="100000">
                    <a:schemeClr val="accent6">
                      <a:shade val="90000"/>
                      <a:lumMod val="90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76200" dist="38100" dir="5400000" rotWithShape="0">
                  <a:srgbClr val="000000">
                    <a:alpha val="7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 prst="hardEdge"/>
              </a:sp3d>
            </c:spPr>
            <c:extLst>
              <c:ext xmlns:c16="http://schemas.microsoft.com/office/drawing/2014/chart" uri="{C3380CC4-5D6E-409C-BE32-E72D297353CC}">
                <c16:uniqueId val="{00000018-CBC1-3C4D-99D9-FCAFB5FD9C33}"/>
              </c:ext>
            </c:extLst>
          </c:dPt>
          <c:cat>
            <c:strRef>
              <c:f>'Sales,location,month'!$A$8:$A$14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'Sales,location,month'!$C$8:$C$14</c:f>
              <c:numCache>
                <c:formatCode>General</c:formatCode>
                <c:ptCount val="6"/>
                <c:pt idx="0">
                  <c:v>27820.649999999969</c:v>
                </c:pt>
                <c:pt idx="1">
                  <c:v>25719.799999999963</c:v>
                </c:pt>
                <c:pt idx="2">
                  <c:v>33110.569999999854</c:v>
                </c:pt>
                <c:pt idx="3">
                  <c:v>40304.139999999745</c:v>
                </c:pt>
                <c:pt idx="4">
                  <c:v>52598.929999999375</c:v>
                </c:pt>
                <c:pt idx="5">
                  <c:v>56957.079999999347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9-CBC1-3C4D-99D9-FCAFB5FD9C33}"/>
            </c:ext>
          </c:extLst>
        </c:ser>
        <c:ser>
          <c:idx val="2"/>
          <c:order val="2"/>
          <c:tx>
            <c:strRef>
              <c:f>'Sales,location,month'!$D$6:$D$7</c:f>
              <c:strCache>
                <c:ptCount val="1"/>
                <c:pt idx="0">
                  <c:v>Lower Manhattan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tint val="96000"/>
                      <a:lumMod val="104000"/>
                    </a:schemeClr>
                  </a:gs>
                  <a:gs pos="100000">
                    <a:schemeClr val="accent1">
                      <a:shade val="90000"/>
                      <a:lumMod val="90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76200" dist="38100" dir="5400000" rotWithShape="0">
                  <a:srgbClr val="000000">
                    <a:alpha val="7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 prst="hardEdge"/>
              </a:sp3d>
            </c:spPr>
            <c:extLst>
              <c:ext xmlns:c16="http://schemas.microsoft.com/office/drawing/2014/chart" uri="{C3380CC4-5D6E-409C-BE32-E72D297353CC}">
                <c16:uniqueId val="{0000001B-CBC1-3C4D-99D9-FCAFB5FD9C33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tint val="96000"/>
                      <a:lumMod val="104000"/>
                    </a:schemeClr>
                  </a:gs>
                  <a:gs pos="100000">
                    <a:schemeClr val="accent2">
                      <a:shade val="90000"/>
                      <a:lumMod val="90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76200" dist="38100" dir="5400000" rotWithShape="0">
                  <a:srgbClr val="000000">
                    <a:alpha val="7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 prst="hardEdge"/>
              </a:sp3d>
            </c:spPr>
            <c:extLst>
              <c:ext xmlns:c16="http://schemas.microsoft.com/office/drawing/2014/chart" uri="{C3380CC4-5D6E-409C-BE32-E72D297353CC}">
                <c16:uniqueId val="{0000001D-CBC1-3C4D-99D9-FCAFB5FD9C33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tint val="96000"/>
                      <a:lumMod val="104000"/>
                    </a:schemeClr>
                  </a:gs>
                  <a:gs pos="100000">
                    <a:schemeClr val="accent3">
                      <a:shade val="90000"/>
                      <a:lumMod val="90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76200" dist="38100" dir="5400000" rotWithShape="0">
                  <a:srgbClr val="000000">
                    <a:alpha val="7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 prst="hardEdge"/>
              </a:sp3d>
            </c:spPr>
            <c:extLst>
              <c:ext xmlns:c16="http://schemas.microsoft.com/office/drawing/2014/chart" uri="{C3380CC4-5D6E-409C-BE32-E72D297353CC}">
                <c16:uniqueId val="{0000001F-CBC1-3C4D-99D9-FCAFB5FD9C33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4">
                      <a:tint val="96000"/>
                      <a:lumMod val="104000"/>
                    </a:schemeClr>
                  </a:gs>
                  <a:gs pos="100000">
                    <a:schemeClr val="accent4">
                      <a:shade val="90000"/>
                      <a:lumMod val="90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76200" dist="38100" dir="5400000" rotWithShape="0">
                  <a:srgbClr val="000000">
                    <a:alpha val="7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 prst="hardEdge"/>
              </a:sp3d>
            </c:spPr>
            <c:extLst>
              <c:ext xmlns:c16="http://schemas.microsoft.com/office/drawing/2014/chart" uri="{C3380CC4-5D6E-409C-BE32-E72D297353CC}">
                <c16:uniqueId val="{00000021-CBC1-3C4D-99D9-FCAFB5FD9C33}"/>
              </c:ext>
            </c:extLst>
          </c:dPt>
          <c:dPt>
            <c:idx val="4"/>
            <c:bubble3D val="0"/>
            <c:spPr>
              <a:gradFill rotWithShape="1">
                <a:gsLst>
                  <a:gs pos="0">
                    <a:schemeClr val="accent5">
                      <a:tint val="96000"/>
                      <a:lumMod val="104000"/>
                    </a:schemeClr>
                  </a:gs>
                  <a:gs pos="100000">
                    <a:schemeClr val="accent5">
                      <a:shade val="90000"/>
                      <a:lumMod val="90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76200" dist="38100" dir="5400000" rotWithShape="0">
                  <a:srgbClr val="000000">
                    <a:alpha val="7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 prst="hardEdge"/>
              </a:sp3d>
            </c:spPr>
            <c:extLst>
              <c:ext xmlns:c16="http://schemas.microsoft.com/office/drawing/2014/chart" uri="{C3380CC4-5D6E-409C-BE32-E72D297353CC}">
                <c16:uniqueId val="{00000023-CBC1-3C4D-99D9-FCAFB5FD9C33}"/>
              </c:ext>
            </c:extLst>
          </c:dPt>
          <c:dPt>
            <c:idx val="5"/>
            <c:bubble3D val="0"/>
            <c:spPr>
              <a:gradFill rotWithShape="1">
                <a:gsLst>
                  <a:gs pos="0">
                    <a:schemeClr val="accent6">
                      <a:tint val="96000"/>
                      <a:lumMod val="104000"/>
                    </a:schemeClr>
                  </a:gs>
                  <a:gs pos="100000">
                    <a:schemeClr val="accent6">
                      <a:shade val="90000"/>
                      <a:lumMod val="90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76200" dist="38100" dir="5400000" rotWithShape="0">
                  <a:srgbClr val="000000">
                    <a:alpha val="7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 prst="hardEdge"/>
              </a:sp3d>
            </c:spPr>
            <c:extLst>
              <c:ext xmlns:c16="http://schemas.microsoft.com/office/drawing/2014/chart" uri="{C3380CC4-5D6E-409C-BE32-E72D297353CC}">
                <c16:uniqueId val="{00000025-CBC1-3C4D-99D9-FCAFB5FD9C33}"/>
              </c:ext>
            </c:extLst>
          </c:dPt>
          <c:cat>
            <c:strRef>
              <c:f>'Sales,location,month'!$A$8:$A$14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'Sales,location,month'!$D$8:$D$14</c:f>
              <c:numCache>
                <c:formatCode>General</c:formatCode>
                <c:ptCount val="6"/>
                <c:pt idx="0">
                  <c:v>26543.429999999942</c:v>
                </c:pt>
                <c:pt idx="1">
                  <c:v>25320.049999999905</c:v>
                </c:pt>
                <c:pt idx="2">
                  <c:v>32888.679999999811</c:v>
                </c:pt>
                <c:pt idx="3">
                  <c:v>39159.329999999653</c:v>
                </c:pt>
                <c:pt idx="4">
                  <c:v>51700.069999999592</c:v>
                </c:pt>
                <c:pt idx="5">
                  <c:v>54445.689999999653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6-CBC1-3C4D-99D9-FCAFB5FD9C3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902261776269911"/>
          <c:y val="0.37410559383336778"/>
          <c:w val="8.9436958826595081E-2"/>
          <c:h val="0.3409587727362535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[Bright_coffee_shop_Queries_Draft.xlsx]Sales,location,month!PivotTable32</c:name>
    <c:fmtId val="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500" b="1" i="0" u="none" strike="noStrike" kern="1200" cap="all" spc="100" normalizeH="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Total Sales by location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500" b="1" i="0" u="none" strike="noStrike" kern="1200" cap="all" spc="100" normalizeH="0" baseline="0">
              <a:solidFill>
                <a:schemeClr val="lt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pattFill prst="ltUpDiag">
            <a:fgClr>
              <a:schemeClr val="accent1"/>
            </a:fgClr>
            <a:bgClr>
              <a:schemeClr val="lt1"/>
            </a:bgClr>
          </a:pattFill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ymbol val="circle"/>
          <c:size val="5"/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pattFill prst="ltUpDiag">
            <a:fgClr>
              <a:schemeClr val="accent1"/>
            </a:fgClr>
            <a:bgClr>
              <a:schemeClr val="lt1"/>
            </a:bgClr>
          </a:pattFill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ymbol val="circle"/>
          <c:size val="5"/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pattFill prst="ltUpDiag">
            <a:fgClr>
              <a:schemeClr val="accent1"/>
            </a:fgClr>
            <a:bgClr>
              <a:schemeClr val="lt1"/>
            </a:bgClr>
          </a:pattFill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ymbol val="circle"/>
          <c:size val="5"/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6947222222222222"/>
          <c:y val="0.18097777777777779"/>
          <c:w val="0.69623600174978129"/>
          <c:h val="0.68644479440069994"/>
        </c:manualLayout>
      </c:layout>
      <c:lineChart>
        <c:grouping val="standard"/>
        <c:varyColors val="0"/>
        <c:ser>
          <c:idx val="0"/>
          <c:order val="0"/>
          <c:tx>
            <c:strRef>
              <c:f>'Sales,location,month'!$B$29</c:f>
              <c:strCache>
                <c:ptCount val="1"/>
                <c:pt idx="0">
                  <c:v>Total</c:v>
                </c:pt>
              </c:strCache>
            </c:strRef>
          </c:tx>
          <c:spPr>
            <a:ln w="34925" cap="rnd">
              <a:solidFill>
                <a:schemeClr val="lt1"/>
              </a:solidFill>
              <a:round/>
            </a:ln>
            <a:effectLst>
              <a:outerShdw dist="25400" dir="2700000" algn="tl" rotWithShape="0">
                <a:schemeClr val="accent1"/>
              </a:outerShdw>
            </a:effectLst>
          </c:spPr>
          <c:marker>
            <c:symbol val="circle"/>
            <c:size val="5"/>
            <c:spPr>
              <a:solidFill>
                <a:schemeClr val="accent1"/>
              </a:solidFill>
              <a:ln w="22225">
                <a:solidFill>
                  <a:schemeClr val="lt1"/>
                </a:solidFill>
                <a:round/>
              </a:ln>
              <a:effectLst/>
            </c:spPr>
          </c:marker>
          <c:cat>
            <c:strRef>
              <c:f>'Sales,location,month'!$A$30:$A$33</c:f>
              <c:strCache>
                <c:ptCount val="3"/>
                <c:pt idx="0">
                  <c:v>Astoria</c:v>
                </c:pt>
                <c:pt idx="1">
                  <c:v>Hell's Kitchen</c:v>
                </c:pt>
                <c:pt idx="2">
                  <c:v>Lower Manhattan</c:v>
                </c:pt>
              </c:strCache>
            </c:strRef>
          </c:cat>
          <c:val>
            <c:numRef>
              <c:f>'Sales,location,month'!$B$30:$B$33</c:f>
              <c:numCache>
                <c:formatCode>General</c:formatCode>
                <c:ptCount val="3"/>
                <c:pt idx="0">
                  <c:v>232243.91000000975</c:v>
                </c:pt>
                <c:pt idx="1">
                  <c:v>236511.17000000973</c:v>
                </c:pt>
                <c:pt idx="2">
                  <c:v>230057.25000000748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4F6-EC4F-83E0-5BD6DCE443F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gradFill>
                <a:gsLst>
                  <a:gs pos="0">
                    <a:schemeClr val="lt1"/>
                  </a:gs>
                  <a:gs pos="100000">
                    <a:schemeClr val="lt1">
                      <a:alpha val="0"/>
                    </a:schemeClr>
                  </a:gs>
                </a:gsLst>
                <a:lin ang="5400000" scaled="0"/>
              </a:gradFill>
              <a:round/>
            </a:ln>
            <a:effectLst/>
          </c:spPr>
        </c:dropLines>
        <c:marker val="1"/>
        <c:smooth val="0"/>
        <c:axId val="439485311"/>
        <c:axId val="392390719"/>
      </c:lineChart>
      <c:catAx>
        <c:axId val="4394853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spc="1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92390719"/>
        <c:crosses val="autoZero"/>
        <c:auto val="1"/>
        <c:lblAlgn val="ctr"/>
        <c:lblOffset val="100"/>
        <c:noMultiLvlLbl val="0"/>
      </c:catAx>
      <c:valAx>
        <c:axId val="39239071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94853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1"/>
    </a:solidFill>
    <a:ln w="9525" cap="flat" cmpd="sng" algn="ctr">
      <a:solidFill>
        <a:schemeClr val="accent1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[Bright_coffee_shop_Queries_Draft.xlsx]Sales vs Time !PivotTable36</c:name>
    <c:fmtId val="4"/>
  </c:pivotSource>
  <c:chart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 prst="hardEdge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 prst="hardEdge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3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 prst="hardEdge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4">
                    <a:satMod val="103000"/>
                    <a:lumMod val="102000"/>
                    <a:tint val="94000"/>
                  </a:schemeClr>
                </a:gs>
                <a:gs pos="50000">
                  <a:schemeClr val="accent4">
                    <a:satMod val="110000"/>
                    <a:lumMod val="100000"/>
                    <a:shade val="100000"/>
                  </a:schemeClr>
                </a:gs>
                <a:gs pos="100000">
                  <a:schemeClr val="accent4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4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 prst="hardEdge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5">
                    <a:satMod val="103000"/>
                    <a:lumMod val="102000"/>
                    <a:tint val="94000"/>
                  </a:schemeClr>
                </a:gs>
                <a:gs pos="50000">
                  <a:schemeClr val="accent5"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5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 prst="hardEdge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1002537182852143"/>
          <c:y val="3.0057961504811898E-2"/>
          <c:w val="0.64487248468941383"/>
          <c:h val="0.8420450568678915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'Sales vs Time '!$B$3:$B$4</c:f>
              <c:strCache>
                <c:ptCount val="1"/>
                <c:pt idx="0">
                  <c:v>01.Peak hour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 prst="hardEdge"/>
            </a:sp3d>
          </c:spPr>
          <c:invertIfNegative val="0"/>
          <c:cat>
            <c:strRef>
              <c:f>'Sales vs Time '!$A$5:$A$11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'Sales vs Time '!$B$5:$B$11</c:f>
              <c:numCache>
                <c:formatCode>General</c:formatCode>
                <c:ptCount val="6"/>
                <c:pt idx="0">
                  <c:v>19984.270000000033</c:v>
                </c:pt>
                <c:pt idx="1">
                  <c:v>18459.690000000024</c:v>
                </c:pt>
                <c:pt idx="2">
                  <c:v>24213.079999999991</c:v>
                </c:pt>
                <c:pt idx="3">
                  <c:v>27996.019999999953</c:v>
                </c:pt>
                <c:pt idx="4">
                  <c:v>38085.919999999707</c:v>
                </c:pt>
                <c:pt idx="5">
                  <c:v>39387.629999999685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B00-344E-9D80-0F53F3F967D7}"/>
            </c:ext>
          </c:extLst>
        </c:ser>
        <c:ser>
          <c:idx val="1"/>
          <c:order val="1"/>
          <c:tx>
            <c:strRef>
              <c:f>'Sales vs Time '!$C$3:$C$4</c:f>
              <c:strCache>
                <c:ptCount val="1"/>
                <c:pt idx="0">
                  <c:v>02.Mid morning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 prst="hardEdge"/>
            </a:sp3d>
          </c:spPr>
          <c:invertIfNegative val="0"/>
          <c:cat>
            <c:strRef>
              <c:f>'Sales vs Time '!$A$5:$A$11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'Sales vs Time '!$C$5:$C$11</c:f>
              <c:numCache>
                <c:formatCode>General</c:formatCode>
                <c:ptCount val="6"/>
                <c:pt idx="0">
                  <c:v>25804.18999999997</c:v>
                </c:pt>
                <c:pt idx="1">
                  <c:v>23611.219999999998</c:v>
                </c:pt>
                <c:pt idx="2">
                  <c:v>30580.069999999938</c:v>
                </c:pt>
                <c:pt idx="3">
                  <c:v>38277.049999999792</c:v>
                </c:pt>
                <c:pt idx="4">
                  <c:v>49096.559999999532</c:v>
                </c:pt>
                <c:pt idx="5">
                  <c:v>52792.969999999543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B00-344E-9D80-0F53F3F967D7}"/>
            </c:ext>
          </c:extLst>
        </c:ser>
        <c:ser>
          <c:idx val="2"/>
          <c:order val="2"/>
          <c:tx>
            <c:strRef>
              <c:f>'Sales vs Time '!$D$3:$D$4</c:f>
              <c:strCache>
                <c:ptCount val="1"/>
                <c:pt idx="0">
                  <c:v>03.Lunch hour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 prst="hardEdge"/>
            </a:sp3d>
          </c:spPr>
          <c:invertIfNegative val="0"/>
          <c:cat>
            <c:strRef>
              <c:f>'Sales vs Time '!$A$5:$A$11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'Sales vs Time '!$D$5:$D$11</c:f>
              <c:numCache>
                <c:formatCode>General</c:formatCode>
                <c:ptCount val="6"/>
                <c:pt idx="0">
                  <c:v>14177.740000000054</c:v>
                </c:pt>
                <c:pt idx="1">
                  <c:v>13526.470000000034</c:v>
                </c:pt>
                <c:pt idx="2">
                  <c:v>17135.360000000044</c:v>
                </c:pt>
                <c:pt idx="3">
                  <c:v>20388.870000000064</c:v>
                </c:pt>
                <c:pt idx="4">
                  <c:v>27306.659999999974</c:v>
                </c:pt>
                <c:pt idx="5">
                  <c:v>29329.87999999999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B00-344E-9D80-0F53F3F967D7}"/>
            </c:ext>
          </c:extLst>
        </c:ser>
        <c:ser>
          <c:idx val="3"/>
          <c:order val="3"/>
          <c:tx>
            <c:strRef>
              <c:f>'Sales vs Time '!$E$3:$E$4</c:f>
              <c:strCache>
                <c:ptCount val="1"/>
                <c:pt idx="0">
                  <c:v>04.Afternoon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satMod val="103000"/>
                    <a:lumMod val="102000"/>
                    <a:tint val="94000"/>
                  </a:schemeClr>
                </a:gs>
                <a:gs pos="50000">
                  <a:schemeClr val="accent4">
                    <a:satMod val="110000"/>
                    <a:lumMod val="100000"/>
                    <a:shade val="100000"/>
                  </a:schemeClr>
                </a:gs>
                <a:gs pos="100000">
                  <a:schemeClr val="accent4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 prst="hardEdge"/>
            </a:sp3d>
          </c:spPr>
          <c:invertIfNegative val="0"/>
          <c:cat>
            <c:strRef>
              <c:f>'Sales vs Time '!$A$5:$A$11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'Sales vs Time '!$E$5:$E$11</c:f>
              <c:numCache>
                <c:formatCode>General</c:formatCode>
                <c:ptCount val="6"/>
                <c:pt idx="0">
                  <c:v>14143.400000000032</c:v>
                </c:pt>
                <c:pt idx="1">
                  <c:v>13459.640000000027</c:v>
                </c:pt>
                <c:pt idx="2">
                  <c:v>17738.180000000048</c:v>
                </c:pt>
                <c:pt idx="3">
                  <c:v>21222.850000000024</c:v>
                </c:pt>
                <c:pt idx="4">
                  <c:v>27646.309999999969</c:v>
                </c:pt>
                <c:pt idx="5">
                  <c:v>28779.779999999944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B00-344E-9D80-0F53F3F967D7}"/>
            </c:ext>
          </c:extLst>
        </c:ser>
        <c:ser>
          <c:idx val="4"/>
          <c:order val="4"/>
          <c:tx>
            <c:strRef>
              <c:f>'Sales vs Time '!$F$3:$F$4</c:f>
              <c:strCache>
                <c:ptCount val="1"/>
                <c:pt idx="0">
                  <c:v>05.Evening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satMod val="103000"/>
                    <a:lumMod val="102000"/>
                    <a:tint val="94000"/>
                  </a:schemeClr>
                </a:gs>
                <a:gs pos="50000">
                  <a:schemeClr val="accent5"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 prst="hardEdge"/>
            </a:sp3d>
          </c:spPr>
          <c:invertIfNegative val="0"/>
          <c:cat>
            <c:strRef>
              <c:f>'Sales vs Time '!$A$5:$A$11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'Sales vs Time '!$F$5:$F$11</c:f>
              <c:numCache>
                <c:formatCode>General</c:formatCode>
                <c:ptCount val="6"/>
                <c:pt idx="0">
                  <c:v>7568.1400000000021</c:v>
                </c:pt>
                <c:pt idx="1">
                  <c:v>7088.1699999999964</c:v>
                </c:pt>
                <c:pt idx="2">
                  <c:v>9167.9900000000089</c:v>
                </c:pt>
                <c:pt idx="3">
                  <c:v>11056.290000000026</c:v>
                </c:pt>
                <c:pt idx="4">
                  <c:v>14592.310000000049</c:v>
                </c:pt>
                <c:pt idx="5">
                  <c:v>16195.620000000059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B00-344E-9D80-0F53F3F967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375900799"/>
        <c:axId val="375904831"/>
      </c:barChart>
      <c:catAx>
        <c:axId val="3759007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75904831"/>
        <c:crosses val="autoZero"/>
        <c:auto val="1"/>
        <c:lblAlgn val="ctr"/>
        <c:lblOffset val="100"/>
        <c:noMultiLvlLbl val="0"/>
      </c:catAx>
      <c:valAx>
        <c:axId val="37590483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7590079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3780052493438331"/>
          <c:y val="0.29731335666375036"/>
          <c:w val="0.17319598352958174"/>
          <c:h val="0.3281743007930460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lt1">
                  <a:lumMod val="8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[Bright_coffee_shop_Queries_Draft.xlsx]Sales per product Top seilling !PivotTable39</c:name>
    <c:fmtId val="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/>
              <a:t>Sales by product type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2">
              <a:alpha val="70000"/>
            </a:schemeClr>
          </a:solidFill>
          <a:ln w="25400" cap="flat" cmpd="sng" algn="ctr">
            <a:noFill/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circle"/>
          <c:size val="6"/>
          <c:spPr>
            <a:solidFill>
              <a:schemeClr val="accent2">
                <a:alpha val="70000"/>
              </a:schemeClr>
            </a:solidFill>
            <a:ln w="19050" cap="rnd">
              <a:noFill/>
              <a:round/>
            </a:ln>
            <a:effectLst/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 prst="hardEdge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2">
              <a:alpha val="70000"/>
            </a:schemeClr>
          </a:solidFill>
          <a:ln w="25400" cap="flat" cmpd="sng" algn="ctr">
            <a:noFill/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2">
              <a:alpha val="70000"/>
            </a:schemeClr>
          </a:solidFill>
          <a:ln w="25400" cap="flat" cmpd="sng" algn="ctr">
            <a:noFill/>
            <a:miter lim="800000"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'Sales per product Top seilling '!$B$3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tint val="96000"/>
                    <a:lumMod val="104000"/>
                  </a:schemeClr>
                </a:gs>
                <a:gs pos="100000">
                  <a:schemeClr val="accent2">
                    <a:shade val="90000"/>
                    <a:lumMod val="90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76200" dist="38100" dir="5400000" rotWithShape="0">
                <a:srgbClr val="000000">
                  <a:alpha val="7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 prst="hardEdge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'Sales per product Top seilling '!$A$4:$A$33</c:f>
              <c:strCache>
                <c:ptCount val="29"/>
                <c:pt idx="0">
                  <c:v>Barista Espresso</c:v>
                </c:pt>
                <c:pt idx="1">
                  <c:v>Biscotti</c:v>
                </c:pt>
                <c:pt idx="2">
                  <c:v>Black tea</c:v>
                </c:pt>
                <c:pt idx="3">
                  <c:v>Brewed Black tea</c:v>
                </c:pt>
                <c:pt idx="4">
                  <c:v>Brewed Chai tea</c:v>
                </c:pt>
                <c:pt idx="5">
                  <c:v>Brewed Green tea</c:v>
                </c:pt>
                <c:pt idx="6">
                  <c:v>Brewed herbal tea</c:v>
                </c:pt>
                <c:pt idx="7">
                  <c:v>Chai tea</c:v>
                </c:pt>
                <c:pt idx="8">
                  <c:v>Clothing</c:v>
                </c:pt>
                <c:pt idx="9">
                  <c:v>Drinking Chocolate</c:v>
                </c:pt>
                <c:pt idx="10">
                  <c:v>Drip coffee</c:v>
                </c:pt>
                <c:pt idx="11">
                  <c:v>Espresso Beans</c:v>
                </c:pt>
                <c:pt idx="12">
                  <c:v>Gourmet Beans</c:v>
                </c:pt>
                <c:pt idx="13">
                  <c:v>Gourmet brewed coffee</c:v>
                </c:pt>
                <c:pt idx="14">
                  <c:v>Green beans</c:v>
                </c:pt>
                <c:pt idx="15">
                  <c:v>Green tea</c:v>
                </c:pt>
                <c:pt idx="16">
                  <c:v>Herbal tea</c:v>
                </c:pt>
                <c:pt idx="17">
                  <c:v>Hot chocolate</c:v>
                </c:pt>
                <c:pt idx="18">
                  <c:v>House blend Beans</c:v>
                </c:pt>
                <c:pt idx="19">
                  <c:v>Housewares</c:v>
                </c:pt>
                <c:pt idx="20">
                  <c:v>Organic Beans</c:v>
                </c:pt>
                <c:pt idx="21">
                  <c:v>Organic brewed coffee</c:v>
                </c:pt>
                <c:pt idx="22">
                  <c:v>Organic Chocolate</c:v>
                </c:pt>
                <c:pt idx="23">
                  <c:v>Pastry</c:v>
                </c:pt>
                <c:pt idx="24">
                  <c:v>Premium Beans</c:v>
                </c:pt>
                <c:pt idx="25">
                  <c:v>Premium brewed coffee</c:v>
                </c:pt>
                <c:pt idx="26">
                  <c:v>Regular syrup</c:v>
                </c:pt>
                <c:pt idx="27">
                  <c:v>Scone</c:v>
                </c:pt>
                <c:pt idx="28">
                  <c:v>Sugar free syrup</c:v>
                </c:pt>
              </c:strCache>
            </c:strRef>
          </c:cat>
          <c:val>
            <c:numRef>
              <c:f>'Sales per product Top seilling '!$B$4:$B$33</c:f>
              <c:numCache>
                <c:formatCode>General</c:formatCode>
                <c:ptCount val="29"/>
                <c:pt idx="0">
                  <c:v>91406.200000000317</c:v>
                </c:pt>
                <c:pt idx="1">
                  <c:v>19793.53</c:v>
                </c:pt>
                <c:pt idx="2">
                  <c:v>2711.8499999999935</c:v>
                </c:pt>
                <c:pt idx="3">
                  <c:v>47932</c:v>
                </c:pt>
                <c:pt idx="4">
                  <c:v>77081.949999999968</c:v>
                </c:pt>
                <c:pt idx="5">
                  <c:v>23852.5</c:v>
                </c:pt>
                <c:pt idx="6">
                  <c:v>47539.5</c:v>
                </c:pt>
                <c:pt idx="7">
                  <c:v>4301.2499999999773</c:v>
                </c:pt>
                <c:pt idx="8">
                  <c:v>6163</c:v>
                </c:pt>
                <c:pt idx="9">
                  <c:v>2728.04</c:v>
                </c:pt>
                <c:pt idx="10">
                  <c:v>31984</c:v>
                </c:pt>
                <c:pt idx="11">
                  <c:v>5560.2499999999854</c:v>
                </c:pt>
                <c:pt idx="12">
                  <c:v>6798</c:v>
                </c:pt>
                <c:pt idx="13">
                  <c:v>70034.59999999922</c:v>
                </c:pt>
                <c:pt idx="14">
                  <c:v>1340</c:v>
                </c:pt>
                <c:pt idx="15">
                  <c:v>1470.75</c:v>
                </c:pt>
                <c:pt idx="16">
                  <c:v>2729.7499999999932</c:v>
                </c:pt>
                <c:pt idx="17">
                  <c:v>72416</c:v>
                </c:pt>
                <c:pt idx="18">
                  <c:v>3294</c:v>
                </c:pt>
                <c:pt idx="19">
                  <c:v>7444</c:v>
                </c:pt>
                <c:pt idx="20">
                  <c:v>8509.5</c:v>
                </c:pt>
                <c:pt idx="21">
                  <c:v>37746.500000001004</c:v>
                </c:pt>
                <c:pt idx="22">
                  <c:v>1679.5999999999942</c:v>
                </c:pt>
                <c:pt idx="23">
                  <c:v>25655.989999999994</c:v>
                </c:pt>
                <c:pt idx="24">
                  <c:v>14583.5</c:v>
                </c:pt>
                <c:pt idx="25">
                  <c:v>38781.149999999972</c:v>
                </c:pt>
                <c:pt idx="26">
                  <c:v>6084.8000000004595</c:v>
                </c:pt>
                <c:pt idx="27">
                  <c:v>36866.120000000185</c:v>
                </c:pt>
                <c:pt idx="28">
                  <c:v>2323.9999999999518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C2A-5B47-84FB-71D3BF7B5657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15"/>
        <c:overlap val="-20"/>
        <c:axId val="624431039"/>
        <c:axId val="624436863"/>
      </c:barChart>
      <c:catAx>
        <c:axId val="62443103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24436863"/>
        <c:crosses val="autoZero"/>
        <c:auto val="1"/>
        <c:lblAlgn val="ctr"/>
        <c:lblOffset val="100"/>
        <c:noMultiLvlLbl val="0"/>
      </c:catAx>
      <c:valAx>
        <c:axId val="62443686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2443103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[Bright_coffee_shop_Queries_Draft.xlsx]Sales per product Top seilling !PivotTable40</c:name>
    <c:fmtId val="7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4.2404595394366341E-2"/>
          <c:y val="2.2580645161290321E-2"/>
          <c:w val="0.82567492294932576"/>
          <c:h val="0.8545054610109220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'Sales per product Top seilling '!$B$37:$B$38</c:f>
              <c:strCache>
                <c:ptCount val="1"/>
                <c:pt idx="0">
                  <c:v>Astoria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96000"/>
                    <a:lumMod val="104000"/>
                  </a:schemeClr>
                </a:gs>
                <a:gs pos="100000">
                  <a:schemeClr val="accent1">
                    <a:shade val="90000"/>
                    <a:lumMod val="90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76200" dist="38100" dir="5400000" rotWithShape="0">
                <a:srgbClr val="000000">
                  <a:alpha val="7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 prst="hardEdge"/>
            </a:sp3d>
          </c:spPr>
          <c:invertIfNegative val="0"/>
          <c:cat>
            <c:strRef>
              <c:f>'Sales per product Top seilling '!$A$39:$A$49</c:f>
              <c:strCache>
                <c:ptCount val="10"/>
                <c:pt idx="0">
                  <c:v>Barista Espresso</c:v>
                </c:pt>
                <c:pt idx="1">
                  <c:v>Brewed Black tea</c:v>
                </c:pt>
                <c:pt idx="2">
                  <c:v>Brewed Chai tea</c:v>
                </c:pt>
                <c:pt idx="3">
                  <c:v>Brewed herbal tea</c:v>
                </c:pt>
                <c:pt idx="4">
                  <c:v>Drip coffee</c:v>
                </c:pt>
                <c:pt idx="5">
                  <c:v>Gourmet brewed coffee</c:v>
                </c:pt>
                <c:pt idx="6">
                  <c:v>Hot chocolate</c:v>
                </c:pt>
                <c:pt idx="7">
                  <c:v>Organic brewed coffee</c:v>
                </c:pt>
                <c:pt idx="8">
                  <c:v>Premium brewed coffee</c:v>
                </c:pt>
                <c:pt idx="9">
                  <c:v>Scone</c:v>
                </c:pt>
              </c:strCache>
            </c:strRef>
          </c:cat>
          <c:val>
            <c:numRef>
              <c:f>'Sales per product Top seilling '!$B$39:$B$49</c:f>
              <c:numCache>
                <c:formatCode>General</c:formatCode>
                <c:ptCount val="10"/>
                <c:pt idx="0">
                  <c:v>27935</c:v>
                </c:pt>
                <c:pt idx="1">
                  <c:v>16141</c:v>
                </c:pt>
                <c:pt idx="2">
                  <c:v>27427.89999999951</c:v>
                </c:pt>
                <c:pt idx="3">
                  <c:v>16282</c:v>
                </c:pt>
                <c:pt idx="4">
                  <c:v>11416.5</c:v>
                </c:pt>
                <c:pt idx="5">
                  <c:v>23823.300000000396</c:v>
                </c:pt>
                <c:pt idx="6">
                  <c:v>26335.25</c:v>
                </c:pt>
                <c:pt idx="7">
                  <c:v>12623.199999999983</c:v>
                </c:pt>
                <c:pt idx="8">
                  <c:v>13946.300000000254</c:v>
                </c:pt>
                <c:pt idx="9">
                  <c:v>11629.75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E21-9747-A0AC-25930E019905}"/>
            </c:ext>
          </c:extLst>
        </c:ser>
        <c:ser>
          <c:idx val="1"/>
          <c:order val="1"/>
          <c:tx>
            <c:strRef>
              <c:f>'Sales per product Top seilling '!$C$37:$C$38</c:f>
              <c:strCache>
                <c:ptCount val="1"/>
                <c:pt idx="0">
                  <c:v>Hell's Kitchen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tint val="96000"/>
                    <a:lumMod val="104000"/>
                  </a:schemeClr>
                </a:gs>
                <a:gs pos="100000">
                  <a:schemeClr val="accent2">
                    <a:shade val="90000"/>
                    <a:lumMod val="90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76200" dist="38100" dir="5400000" rotWithShape="0">
                <a:srgbClr val="000000">
                  <a:alpha val="7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 prst="hardEdge"/>
            </a:sp3d>
          </c:spPr>
          <c:invertIfNegative val="0"/>
          <c:cat>
            <c:strRef>
              <c:f>'Sales per product Top seilling '!$A$39:$A$49</c:f>
              <c:strCache>
                <c:ptCount val="10"/>
                <c:pt idx="0">
                  <c:v>Barista Espresso</c:v>
                </c:pt>
                <c:pt idx="1">
                  <c:v>Brewed Black tea</c:v>
                </c:pt>
                <c:pt idx="2">
                  <c:v>Brewed Chai tea</c:v>
                </c:pt>
                <c:pt idx="3">
                  <c:v>Brewed herbal tea</c:v>
                </c:pt>
                <c:pt idx="4">
                  <c:v>Drip coffee</c:v>
                </c:pt>
                <c:pt idx="5">
                  <c:v>Gourmet brewed coffee</c:v>
                </c:pt>
                <c:pt idx="6">
                  <c:v>Hot chocolate</c:v>
                </c:pt>
                <c:pt idx="7">
                  <c:v>Organic brewed coffee</c:v>
                </c:pt>
                <c:pt idx="8">
                  <c:v>Premium brewed coffee</c:v>
                </c:pt>
                <c:pt idx="9">
                  <c:v>Scone</c:v>
                </c:pt>
              </c:strCache>
            </c:strRef>
          </c:cat>
          <c:val>
            <c:numRef>
              <c:f>'Sales per product Top seilling '!$C$39:$C$49</c:f>
              <c:numCache>
                <c:formatCode>General</c:formatCode>
                <c:ptCount val="10"/>
                <c:pt idx="0">
                  <c:v>32420.199999999793</c:v>
                </c:pt>
                <c:pt idx="1">
                  <c:v>15575.5</c:v>
                </c:pt>
                <c:pt idx="2">
                  <c:v>25645.299999999694</c:v>
                </c:pt>
                <c:pt idx="3">
                  <c:v>15263</c:v>
                </c:pt>
                <c:pt idx="4">
                  <c:v>10750.5</c:v>
                </c:pt>
                <c:pt idx="5">
                  <c:v>23010.100000000293</c:v>
                </c:pt>
                <c:pt idx="6">
                  <c:v>23586.25</c:v>
                </c:pt>
                <c:pt idx="7">
                  <c:v>13113.999999999969</c:v>
                </c:pt>
                <c:pt idx="8">
                  <c:v>11927.850000000093</c:v>
                </c:pt>
                <c:pt idx="9">
                  <c:v>12575.699999999995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E21-9747-A0AC-25930E019905}"/>
            </c:ext>
          </c:extLst>
        </c:ser>
        <c:ser>
          <c:idx val="2"/>
          <c:order val="2"/>
          <c:tx>
            <c:strRef>
              <c:f>'Sales per product Top seilling '!$D$37:$D$38</c:f>
              <c:strCache>
                <c:ptCount val="1"/>
                <c:pt idx="0">
                  <c:v>Lower Manhattan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tint val="96000"/>
                    <a:lumMod val="104000"/>
                  </a:schemeClr>
                </a:gs>
                <a:gs pos="100000">
                  <a:schemeClr val="accent3">
                    <a:shade val="90000"/>
                    <a:lumMod val="90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76200" dist="38100" dir="5400000" rotWithShape="0">
                <a:srgbClr val="000000">
                  <a:alpha val="7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 prst="hardEdge"/>
            </a:sp3d>
          </c:spPr>
          <c:invertIfNegative val="0"/>
          <c:cat>
            <c:strRef>
              <c:f>'Sales per product Top seilling '!$A$39:$A$49</c:f>
              <c:strCache>
                <c:ptCount val="10"/>
                <c:pt idx="0">
                  <c:v>Barista Espresso</c:v>
                </c:pt>
                <c:pt idx="1">
                  <c:v>Brewed Black tea</c:v>
                </c:pt>
                <c:pt idx="2">
                  <c:v>Brewed Chai tea</c:v>
                </c:pt>
                <c:pt idx="3">
                  <c:v>Brewed herbal tea</c:v>
                </c:pt>
                <c:pt idx="4">
                  <c:v>Drip coffee</c:v>
                </c:pt>
                <c:pt idx="5">
                  <c:v>Gourmet brewed coffee</c:v>
                </c:pt>
                <c:pt idx="6">
                  <c:v>Hot chocolate</c:v>
                </c:pt>
                <c:pt idx="7">
                  <c:v>Organic brewed coffee</c:v>
                </c:pt>
                <c:pt idx="8">
                  <c:v>Premium brewed coffee</c:v>
                </c:pt>
                <c:pt idx="9">
                  <c:v>Scone</c:v>
                </c:pt>
              </c:strCache>
            </c:strRef>
          </c:cat>
          <c:val>
            <c:numRef>
              <c:f>'Sales per product Top seilling '!$D$39:$D$49</c:f>
              <c:numCache>
                <c:formatCode>General</c:formatCode>
                <c:ptCount val="10"/>
                <c:pt idx="0">
                  <c:v>31050.999999999967</c:v>
                </c:pt>
                <c:pt idx="1">
                  <c:v>16215.5</c:v>
                </c:pt>
                <c:pt idx="2">
                  <c:v>24008.749999999814</c:v>
                </c:pt>
                <c:pt idx="3">
                  <c:v>15994.5</c:v>
                </c:pt>
                <c:pt idx="4">
                  <c:v>9817</c:v>
                </c:pt>
                <c:pt idx="5">
                  <c:v>23201.200000000215</c:v>
                </c:pt>
                <c:pt idx="6">
                  <c:v>22494.5</c:v>
                </c:pt>
                <c:pt idx="7">
                  <c:v>12009.3</c:v>
                </c:pt>
                <c:pt idx="8">
                  <c:v>12907.000000000106</c:v>
                </c:pt>
                <c:pt idx="9">
                  <c:v>12660.669999999951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E21-9747-A0AC-25930E0199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375934911"/>
        <c:axId val="625362239"/>
      </c:barChart>
      <c:catAx>
        <c:axId val="3759349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25362239"/>
        <c:crosses val="autoZero"/>
        <c:auto val="1"/>
        <c:lblAlgn val="ctr"/>
        <c:lblOffset val="100"/>
        <c:noMultiLvlLbl val="0"/>
      </c:catAx>
      <c:valAx>
        <c:axId val="62536223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759349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4671175368358531"/>
          <c:y val="0.17253162306324613"/>
          <c:w val="0.1402843451460635"/>
          <c:h val="0.2839687579375158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[Bright_coffee_shop_Queries_Draft.xlsx]Sales per product Top seilling !PivotTable43</c:name>
    <c:fmtId val="1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GB" dirty="0"/>
              <a:t>Lowest selling products</a:t>
            </a:r>
          </a:p>
        </c:rich>
      </c:tx>
      <c:layout>
        <c:manualLayout>
          <c:xMode val="edge"/>
          <c:yMode val="edge"/>
          <c:x val="0.30027115919883673"/>
          <c:y val="1.211705745369578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GB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5.9408684333128473E-2"/>
          <c:y val="9.4347996511684934E-2"/>
          <c:w val="0.85761840264364853"/>
          <c:h val="0.7348427656754293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'Sales per product Top seilling '!$B$79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96000"/>
                    <a:lumMod val="104000"/>
                  </a:schemeClr>
                </a:gs>
                <a:gs pos="100000">
                  <a:schemeClr val="accent1">
                    <a:shade val="90000"/>
                    <a:lumMod val="90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63500" dist="25400" dir="5400000" rotWithShape="0">
                <a:srgbClr val="000000">
                  <a:alpha val="60000"/>
                </a:srgbClr>
              </a:outerShdw>
            </a:effectLst>
          </c:spPr>
          <c:invertIfNegative val="0"/>
          <c:cat>
            <c:strRef>
              <c:f>'Sales per product Top seilling '!$A$80:$A$90</c:f>
              <c:strCache>
                <c:ptCount val="10"/>
                <c:pt idx="0">
                  <c:v>Espresso Beans</c:v>
                </c:pt>
                <c:pt idx="1">
                  <c:v>Chai tea</c:v>
                </c:pt>
                <c:pt idx="2">
                  <c:v>House blend Beans</c:v>
                </c:pt>
                <c:pt idx="3">
                  <c:v>Herbal tea</c:v>
                </c:pt>
                <c:pt idx="4">
                  <c:v>Drinking Chocolate</c:v>
                </c:pt>
                <c:pt idx="5">
                  <c:v>Black tea</c:v>
                </c:pt>
                <c:pt idx="6">
                  <c:v>Sugar free syrup</c:v>
                </c:pt>
                <c:pt idx="7">
                  <c:v>Organic Chocolate</c:v>
                </c:pt>
                <c:pt idx="8">
                  <c:v>Green tea</c:v>
                </c:pt>
                <c:pt idx="9">
                  <c:v>Green beans</c:v>
                </c:pt>
              </c:strCache>
            </c:strRef>
          </c:cat>
          <c:val>
            <c:numRef>
              <c:f>'Sales per product Top seilling '!$B$80:$B$90</c:f>
              <c:numCache>
                <c:formatCode>General</c:formatCode>
                <c:ptCount val="10"/>
                <c:pt idx="0">
                  <c:v>5560.2499999999854</c:v>
                </c:pt>
                <c:pt idx="1">
                  <c:v>4301.2499999999773</c:v>
                </c:pt>
                <c:pt idx="2">
                  <c:v>3294</c:v>
                </c:pt>
                <c:pt idx="3">
                  <c:v>2729.7499999999932</c:v>
                </c:pt>
                <c:pt idx="4">
                  <c:v>2728.04</c:v>
                </c:pt>
                <c:pt idx="5">
                  <c:v>2711.8499999999935</c:v>
                </c:pt>
                <c:pt idx="6">
                  <c:v>2323.9999999999518</c:v>
                </c:pt>
                <c:pt idx="7">
                  <c:v>1679.5999999999942</c:v>
                </c:pt>
                <c:pt idx="8">
                  <c:v>1470.75</c:v>
                </c:pt>
                <c:pt idx="9">
                  <c:v>1340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3A5-FA40-B358-29ECBD8EEFB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623904063"/>
        <c:axId val="363729279"/>
      </c:barChart>
      <c:catAx>
        <c:axId val="62390406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63729279"/>
        <c:crosses val="autoZero"/>
        <c:auto val="1"/>
        <c:lblAlgn val="ctr"/>
        <c:lblOffset val="100"/>
        <c:noMultiLvlLbl val="0"/>
      </c:catAx>
      <c:valAx>
        <c:axId val="36372927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2390406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[Bright_coffee_shop_Queries_Draft.xlsx]Sales per product Top seilling !PivotTable41</c:name>
    <c:fmtId val="14"/>
  </c:pivotSource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cap="all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>
              <a:alpha val="70000"/>
            </a:schemeClr>
          </a:solidFill>
          <a:ln>
            <a:noFill/>
          </a:ln>
          <a:effectLst>
            <a:innerShdw blurRad="114300">
              <a:schemeClr val="accent1">
                <a:lumMod val="75000"/>
              </a:schemeClr>
            </a:innerShdw>
          </a:effectLst>
          <a:scene3d>
            <a:camera prst="orthographicFront"/>
            <a:lightRig rig="threePt" dir="t"/>
          </a:scene3d>
          <a:sp3d contourW="19050" prstMaterial="flat">
            <a:contourClr>
              <a:schemeClr val="accent1">
                <a:lumMod val="75000"/>
              </a:schemeClr>
            </a:contourClr>
          </a:sp3d>
        </c:spPr>
        <c:marker>
          <c:symbol val="circle"/>
          <c:size val="6"/>
        </c:marker>
        <c:dLbl>
          <c:idx val="0"/>
          <c:spPr>
            <a:solidFill>
              <a:schemeClr val="lt1">
                <a:alpha val="90000"/>
              </a:schemeClr>
            </a:solidFill>
            <a:ln w="12700" cap="flat" cmpd="sng" algn="ctr">
              <a:solidFill>
                <a:schemeClr val="accent1"/>
              </a:solidFill>
              <a:round/>
            </a:ln>
            <a:effectLst>
              <a:outerShdw blurRad="50800" dist="38100" dir="2700000" algn="tl" rotWithShape="0">
                <a:schemeClr val="accent1">
                  <a:lumMod val="75000"/>
                  <a:alpha val="40000"/>
                </a:scheme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accent1"/>
                  </a:solidFill>
                  <a:effectLst/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>
              <a:alpha val="70000"/>
            </a:schemeClr>
          </a:solidFill>
          <a:ln>
            <a:noFill/>
          </a:ln>
          <a:effectLst>
            <a:innerShdw blurRad="114300">
              <a:schemeClr val="accent1">
                <a:lumMod val="75000"/>
              </a:schemeClr>
            </a:innerShdw>
          </a:effectLst>
          <a:scene3d>
            <a:camera prst="orthographicFront"/>
            <a:lightRig rig="threePt" dir="t"/>
          </a:scene3d>
          <a:sp3d contourW="19050" prstMaterial="flat">
            <a:contourClr>
              <a:schemeClr val="accent1">
                <a:lumMod val="75000"/>
              </a:schemeClr>
            </a:contourClr>
          </a:sp3d>
        </c:spPr>
        <c:dLbl>
          <c:idx val="0"/>
          <c:spPr>
            <a:solidFill>
              <a:schemeClr val="lt1">
                <a:alpha val="90000"/>
              </a:schemeClr>
            </a:solidFill>
            <a:ln w="12700" cap="flat" cmpd="sng" algn="ctr">
              <a:solidFill>
                <a:schemeClr val="accent1"/>
              </a:solidFill>
              <a:round/>
            </a:ln>
            <a:effectLst>
              <a:outerShdw blurRad="50800" dist="38100" dir="2700000" algn="tl" rotWithShape="0">
                <a:schemeClr val="accent1">
                  <a:lumMod val="75000"/>
                  <a:alpha val="40000"/>
                </a:scheme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accent1"/>
                  </a:solidFill>
                  <a:effectLst/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>
              <a:alpha val="70000"/>
            </a:schemeClr>
          </a:solidFill>
          <a:ln>
            <a:noFill/>
          </a:ln>
          <a:effectLst>
            <a:innerShdw blurRad="114300">
              <a:schemeClr val="accent2">
                <a:lumMod val="75000"/>
              </a:schemeClr>
            </a:innerShdw>
          </a:effectLst>
          <a:scene3d>
            <a:camera prst="orthographicFront"/>
            <a:lightRig rig="threePt" dir="t"/>
          </a:scene3d>
          <a:sp3d contourW="19050" prstMaterial="flat">
            <a:contourClr>
              <a:schemeClr val="accent2">
                <a:lumMod val="75000"/>
              </a:schemeClr>
            </a:contourClr>
          </a:sp3d>
        </c:spPr>
        <c:dLbl>
          <c:idx val="0"/>
          <c:spPr>
            <a:solidFill>
              <a:schemeClr val="lt1">
                <a:alpha val="90000"/>
              </a:schemeClr>
            </a:solidFill>
            <a:ln w="12700" cap="flat" cmpd="sng" algn="ctr">
              <a:solidFill>
                <a:schemeClr val="accent1"/>
              </a:solidFill>
              <a:round/>
            </a:ln>
            <a:effectLst>
              <a:outerShdw blurRad="50800" dist="38100" dir="2700000" algn="tl" rotWithShape="0">
                <a:schemeClr val="accent1">
                  <a:lumMod val="75000"/>
                  <a:alpha val="40000"/>
                </a:scheme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accent1"/>
                  </a:solidFill>
                  <a:effectLst/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>
              <a:alpha val="70000"/>
            </a:schemeClr>
          </a:solidFill>
          <a:ln>
            <a:noFill/>
          </a:ln>
          <a:effectLst>
            <a:innerShdw blurRad="114300">
              <a:schemeClr val="accent3">
                <a:lumMod val="75000"/>
              </a:schemeClr>
            </a:innerShdw>
          </a:effectLst>
          <a:scene3d>
            <a:camera prst="orthographicFront"/>
            <a:lightRig rig="threePt" dir="t"/>
          </a:scene3d>
          <a:sp3d contourW="19050" prstMaterial="flat">
            <a:contourClr>
              <a:schemeClr val="accent3">
                <a:lumMod val="75000"/>
              </a:schemeClr>
            </a:contourClr>
          </a:sp3d>
        </c:spPr>
        <c:dLbl>
          <c:idx val="0"/>
          <c:spPr>
            <a:solidFill>
              <a:schemeClr val="lt1">
                <a:alpha val="90000"/>
              </a:schemeClr>
            </a:solidFill>
            <a:ln w="12700" cap="flat" cmpd="sng" algn="ctr">
              <a:solidFill>
                <a:schemeClr val="accent1"/>
              </a:solidFill>
              <a:round/>
            </a:ln>
            <a:effectLst>
              <a:outerShdw blurRad="50800" dist="38100" dir="2700000" algn="tl" rotWithShape="0">
                <a:schemeClr val="accent1">
                  <a:lumMod val="75000"/>
                  <a:alpha val="40000"/>
                </a:scheme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accent1"/>
                  </a:solidFill>
                  <a:effectLst/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>
              <a:alpha val="70000"/>
            </a:schemeClr>
          </a:solidFill>
          <a:ln>
            <a:noFill/>
          </a:ln>
          <a:effectLst>
            <a:innerShdw blurRad="114300">
              <a:schemeClr val="accent4">
                <a:lumMod val="75000"/>
              </a:schemeClr>
            </a:innerShdw>
          </a:effectLst>
          <a:scene3d>
            <a:camera prst="orthographicFront"/>
            <a:lightRig rig="threePt" dir="t"/>
          </a:scene3d>
          <a:sp3d contourW="19050" prstMaterial="flat">
            <a:contourClr>
              <a:schemeClr val="accent4">
                <a:lumMod val="75000"/>
              </a:schemeClr>
            </a:contourClr>
          </a:sp3d>
        </c:spPr>
        <c:dLbl>
          <c:idx val="0"/>
          <c:spPr>
            <a:solidFill>
              <a:schemeClr val="lt1">
                <a:alpha val="90000"/>
              </a:schemeClr>
            </a:solidFill>
            <a:ln w="12700" cap="flat" cmpd="sng" algn="ctr">
              <a:solidFill>
                <a:schemeClr val="accent1"/>
              </a:solidFill>
              <a:round/>
            </a:ln>
            <a:effectLst>
              <a:outerShdw blurRad="50800" dist="38100" dir="2700000" algn="tl" rotWithShape="0">
                <a:schemeClr val="accent1">
                  <a:lumMod val="75000"/>
                  <a:alpha val="40000"/>
                </a:scheme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accent1"/>
                  </a:solidFill>
                  <a:effectLst/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>
              <a:alpha val="70000"/>
            </a:schemeClr>
          </a:solidFill>
          <a:ln>
            <a:noFill/>
          </a:ln>
          <a:effectLst>
            <a:innerShdw blurRad="114300">
              <a:schemeClr val="accent5">
                <a:lumMod val="75000"/>
              </a:schemeClr>
            </a:innerShdw>
          </a:effectLst>
          <a:scene3d>
            <a:camera prst="orthographicFront"/>
            <a:lightRig rig="threePt" dir="t"/>
          </a:scene3d>
          <a:sp3d contourW="19050" prstMaterial="flat">
            <a:contourClr>
              <a:schemeClr val="accent5">
                <a:lumMod val="75000"/>
              </a:schemeClr>
            </a:contourClr>
          </a:sp3d>
        </c:spPr>
        <c:dLbl>
          <c:idx val="0"/>
          <c:spPr>
            <a:solidFill>
              <a:schemeClr val="lt1">
                <a:alpha val="90000"/>
              </a:schemeClr>
            </a:solidFill>
            <a:ln w="12700" cap="flat" cmpd="sng" algn="ctr">
              <a:solidFill>
                <a:schemeClr val="accent1"/>
              </a:solidFill>
              <a:round/>
            </a:ln>
            <a:effectLst>
              <a:outerShdw blurRad="50800" dist="38100" dir="2700000" algn="tl" rotWithShape="0">
                <a:schemeClr val="accent1">
                  <a:lumMod val="75000"/>
                  <a:alpha val="40000"/>
                </a:scheme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accent1"/>
                  </a:solidFill>
                  <a:effectLst/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>
              <a:alpha val="70000"/>
            </a:schemeClr>
          </a:solidFill>
          <a:ln>
            <a:noFill/>
          </a:ln>
          <a:effectLst>
            <a:innerShdw blurRad="114300">
              <a:schemeClr val="accent6">
                <a:lumMod val="75000"/>
              </a:schemeClr>
            </a:innerShdw>
          </a:effectLst>
          <a:scene3d>
            <a:camera prst="orthographicFront"/>
            <a:lightRig rig="threePt" dir="t"/>
          </a:scene3d>
          <a:sp3d contourW="19050" prstMaterial="flat">
            <a:contourClr>
              <a:schemeClr val="accent6">
                <a:lumMod val="75000"/>
              </a:schemeClr>
            </a:contourClr>
          </a:sp3d>
        </c:spPr>
        <c:dLbl>
          <c:idx val="0"/>
          <c:spPr>
            <a:solidFill>
              <a:schemeClr val="lt1">
                <a:alpha val="90000"/>
              </a:schemeClr>
            </a:solidFill>
            <a:ln w="12700" cap="flat" cmpd="sng" algn="ctr">
              <a:solidFill>
                <a:schemeClr val="accent1"/>
              </a:solidFill>
              <a:round/>
            </a:ln>
            <a:effectLst>
              <a:outerShdw blurRad="50800" dist="38100" dir="2700000" algn="tl" rotWithShape="0">
                <a:schemeClr val="accent1">
                  <a:lumMod val="75000"/>
                  <a:alpha val="40000"/>
                </a:scheme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accent1"/>
                  </a:solidFill>
                  <a:effectLst/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>
              <a:alpha val="70000"/>
            </a:schemeClr>
          </a:solidFill>
          <a:ln>
            <a:noFill/>
          </a:ln>
          <a:effectLst>
            <a:innerShdw blurRad="114300">
              <a:schemeClr val="accent1">
                <a:lumMod val="60000"/>
                <a:lumMod val="75000"/>
              </a:schemeClr>
            </a:innerShdw>
          </a:effectLst>
          <a:scene3d>
            <a:camera prst="orthographicFront"/>
            <a:lightRig rig="threePt" dir="t"/>
          </a:scene3d>
          <a:sp3d contourW="19050" prstMaterial="flat">
            <a:contourClr>
              <a:schemeClr val="accent1">
                <a:lumMod val="60000"/>
                <a:lumMod val="75000"/>
              </a:schemeClr>
            </a:contourClr>
          </a:sp3d>
        </c:spPr>
        <c:dLbl>
          <c:idx val="0"/>
          <c:spPr>
            <a:solidFill>
              <a:schemeClr val="lt1">
                <a:alpha val="90000"/>
              </a:schemeClr>
            </a:solidFill>
            <a:ln w="12700" cap="flat" cmpd="sng" algn="ctr">
              <a:solidFill>
                <a:schemeClr val="accent1"/>
              </a:solidFill>
              <a:round/>
            </a:ln>
            <a:effectLst>
              <a:outerShdw blurRad="50800" dist="38100" dir="2700000" algn="tl" rotWithShape="0">
                <a:schemeClr val="accent1">
                  <a:lumMod val="75000"/>
                  <a:alpha val="40000"/>
                </a:scheme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accent1"/>
                  </a:solidFill>
                  <a:effectLst/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>
              <a:alpha val="70000"/>
            </a:schemeClr>
          </a:solidFill>
          <a:ln>
            <a:noFill/>
          </a:ln>
          <a:effectLst>
            <a:innerShdw blurRad="114300">
              <a:schemeClr val="accent2">
                <a:lumMod val="60000"/>
                <a:lumMod val="75000"/>
              </a:schemeClr>
            </a:innerShdw>
          </a:effectLst>
          <a:scene3d>
            <a:camera prst="orthographicFront"/>
            <a:lightRig rig="threePt" dir="t"/>
          </a:scene3d>
          <a:sp3d contourW="19050" prstMaterial="flat">
            <a:contourClr>
              <a:schemeClr val="accent2">
                <a:lumMod val="60000"/>
                <a:lumMod val="75000"/>
              </a:schemeClr>
            </a:contourClr>
          </a:sp3d>
        </c:spPr>
        <c:dLbl>
          <c:idx val="0"/>
          <c:spPr>
            <a:solidFill>
              <a:schemeClr val="lt1">
                <a:alpha val="90000"/>
              </a:schemeClr>
            </a:solidFill>
            <a:ln w="12700" cap="flat" cmpd="sng" algn="ctr">
              <a:solidFill>
                <a:schemeClr val="accent1"/>
              </a:solidFill>
              <a:round/>
            </a:ln>
            <a:effectLst>
              <a:outerShdw blurRad="50800" dist="38100" dir="2700000" algn="tl" rotWithShape="0">
                <a:schemeClr val="accent1">
                  <a:lumMod val="75000"/>
                  <a:alpha val="40000"/>
                </a:scheme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accent1"/>
                  </a:solidFill>
                  <a:effectLst/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>
              <a:alpha val="70000"/>
            </a:schemeClr>
          </a:solidFill>
          <a:ln>
            <a:noFill/>
          </a:ln>
          <a:effectLst>
            <a:innerShdw blurRad="114300">
              <a:schemeClr val="accent3">
                <a:lumMod val="60000"/>
                <a:lumMod val="75000"/>
              </a:schemeClr>
            </a:innerShdw>
          </a:effectLst>
          <a:scene3d>
            <a:camera prst="orthographicFront"/>
            <a:lightRig rig="threePt" dir="t"/>
          </a:scene3d>
          <a:sp3d contourW="19050" prstMaterial="flat">
            <a:contourClr>
              <a:schemeClr val="accent3">
                <a:lumMod val="60000"/>
                <a:lumMod val="75000"/>
              </a:schemeClr>
            </a:contourClr>
          </a:sp3d>
        </c:spPr>
        <c:dLbl>
          <c:idx val="0"/>
          <c:spPr>
            <a:solidFill>
              <a:schemeClr val="lt1">
                <a:alpha val="90000"/>
              </a:schemeClr>
            </a:solidFill>
            <a:ln w="12700" cap="flat" cmpd="sng" algn="ctr">
              <a:solidFill>
                <a:schemeClr val="accent1"/>
              </a:solidFill>
              <a:round/>
            </a:ln>
            <a:effectLst>
              <a:outerShdw blurRad="50800" dist="38100" dir="2700000" algn="tl" rotWithShape="0">
                <a:schemeClr val="accent1">
                  <a:lumMod val="75000"/>
                  <a:alpha val="40000"/>
                </a:scheme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accent1"/>
                  </a:solidFill>
                  <a:effectLst/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>
              <a:alpha val="70000"/>
            </a:schemeClr>
          </a:solidFill>
          <a:ln>
            <a:noFill/>
          </a:ln>
          <a:effectLst>
            <a:innerShdw blurRad="114300">
              <a:schemeClr val="accent1">
                <a:lumMod val="75000"/>
              </a:schemeClr>
            </a:innerShdw>
          </a:effectLst>
          <a:scene3d>
            <a:camera prst="orthographicFront"/>
            <a:lightRig rig="threePt" dir="t"/>
          </a:scene3d>
          <a:sp3d contourW="19050" prstMaterial="flat">
            <a:contourClr>
              <a:schemeClr val="accent1">
                <a:lumMod val="75000"/>
              </a:schemeClr>
            </a:contourClr>
          </a:sp3d>
        </c:spPr>
        <c:marker>
          <c:symbol val="none"/>
        </c:marker>
        <c:dLbl>
          <c:idx val="0"/>
          <c:spPr>
            <a:solidFill>
              <a:schemeClr val="lt1">
                <a:alpha val="90000"/>
              </a:schemeClr>
            </a:solidFill>
            <a:ln w="12700" cap="flat" cmpd="sng" algn="ctr">
              <a:solidFill>
                <a:schemeClr val="accent1"/>
              </a:solidFill>
              <a:round/>
            </a:ln>
            <a:effectLst>
              <a:outerShdw blurRad="50800" dist="38100" dir="2700000" algn="tl" rotWithShape="0">
                <a:schemeClr val="accent1">
                  <a:lumMod val="75000"/>
                  <a:alpha val="40000"/>
                </a:scheme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accent1"/>
                  </a:solidFill>
                  <a:effectLst/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>
              <a:alpha val="70000"/>
            </a:schemeClr>
          </a:solidFill>
          <a:ln>
            <a:noFill/>
          </a:ln>
          <a:effectLst>
            <a:innerShdw blurRad="114300">
              <a:schemeClr val="accent1">
                <a:lumMod val="75000"/>
              </a:schemeClr>
            </a:innerShdw>
          </a:effectLst>
          <a:scene3d>
            <a:camera prst="orthographicFront"/>
            <a:lightRig rig="threePt" dir="t"/>
          </a:scene3d>
          <a:sp3d contourW="19050" prstMaterial="flat">
            <a:contourClr>
              <a:schemeClr val="accent1">
                <a:lumMod val="75000"/>
              </a:schemeClr>
            </a:contourClr>
          </a:sp3d>
        </c:spPr>
        <c:dLbl>
          <c:idx val="0"/>
          <c:spPr>
            <a:solidFill>
              <a:schemeClr val="lt1">
                <a:alpha val="90000"/>
              </a:schemeClr>
            </a:solidFill>
            <a:ln w="12700" cap="flat" cmpd="sng" algn="ctr">
              <a:solidFill>
                <a:schemeClr val="accent1"/>
              </a:solidFill>
              <a:round/>
            </a:ln>
            <a:effectLst>
              <a:outerShdw blurRad="50800" dist="38100" dir="2700000" algn="tl" rotWithShape="0">
                <a:schemeClr val="accent1">
                  <a:lumMod val="75000"/>
                  <a:alpha val="40000"/>
                </a:scheme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accent1"/>
                  </a:solidFill>
                  <a:effectLst/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xForSave val="1"/>
            </c:ext>
          </c:extLst>
        </c:dLbl>
      </c:pivotFmt>
      <c:pivotFmt>
        <c:idx val="12"/>
        <c:spPr>
          <a:solidFill>
            <a:schemeClr val="accent1">
              <a:alpha val="70000"/>
            </a:schemeClr>
          </a:solidFill>
          <a:ln>
            <a:noFill/>
          </a:ln>
          <a:effectLst>
            <a:innerShdw blurRad="114300">
              <a:schemeClr val="accent1">
                <a:lumMod val="75000"/>
              </a:schemeClr>
            </a:innerShdw>
          </a:effectLst>
          <a:scene3d>
            <a:camera prst="orthographicFront"/>
            <a:lightRig rig="threePt" dir="t"/>
          </a:scene3d>
          <a:sp3d contourW="19050" prstMaterial="flat">
            <a:contourClr>
              <a:schemeClr val="accent1">
                <a:lumMod val="75000"/>
              </a:schemeClr>
            </a:contourClr>
          </a:sp3d>
        </c:spPr>
        <c:dLbl>
          <c:idx val="0"/>
          <c:spPr>
            <a:solidFill>
              <a:schemeClr val="lt1">
                <a:alpha val="90000"/>
              </a:schemeClr>
            </a:solidFill>
            <a:ln w="12700" cap="flat" cmpd="sng" algn="ctr">
              <a:solidFill>
                <a:schemeClr val="accent1"/>
              </a:solidFill>
              <a:round/>
            </a:ln>
            <a:effectLst>
              <a:outerShdw blurRad="50800" dist="38100" dir="2700000" algn="tl" rotWithShape="0">
                <a:schemeClr val="accent1">
                  <a:lumMod val="75000"/>
                  <a:alpha val="40000"/>
                </a:scheme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accent1"/>
                  </a:solidFill>
                  <a:effectLst/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xForSave val="1"/>
            </c:ext>
          </c:extLst>
        </c:dLbl>
      </c:pivotFmt>
      <c:pivotFmt>
        <c:idx val="13"/>
        <c:spPr>
          <a:solidFill>
            <a:schemeClr val="accent1">
              <a:alpha val="70000"/>
            </a:schemeClr>
          </a:solidFill>
          <a:ln>
            <a:noFill/>
          </a:ln>
          <a:effectLst>
            <a:innerShdw blurRad="114300">
              <a:schemeClr val="accent1">
                <a:lumMod val="75000"/>
              </a:schemeClr>
            </a:innerShdw>
          </a:effectLst>
          <a:scene3d>
            <a:camera prst="orthographicFront"/>
            <a:lightRig rig="threePt" dir="t"/>
          </a:scene3d>
          <a:sp3d contourW="19050" prstMaterial="flat">
            <a:contourClr>
              <a:schemeClr val="accent1">
                <a:lumMod val="75000"/>
              </a:schemeClr>
            </a:contourClr>
          </a:sp3d>
        </c:spPr>
        <c:dLbl>
          <c:idx val="0"/>
          <c:spPr>
            <a:solidFill>
              <a:schemeClr val="lt1">
                <a:alpha val="90000"/>
              </a:schemeClr>
            </a:solidFill>
            <a:ln w="12700" cap="flat" cmpd="sng" algn="ctr">
              <a:solidFill>
                <a:schemeClr val="accent1"/>
              </a:solidFill>
              <a:round/>
            </a:ln>
            <a:effectLst>
              <a:outerShdw blurRad="50800" dist="38100" dir="2700000" algn="tl" rotWithShape="0">
                <a:schemeClr val="accent1">
                  <a:lumMod val="75000"/>
                  <a:alpha val="40000"/>
                </a:scheme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accent1"/>
                  </a:solidFill>
                  <a:effectLst/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xForSave val="1"/>
            </c:ext>
          </c:extLst>
        </c:dLbl>
      </c:pivotFmt>
      <c:pivotFmt>
        <c:idx val="14"/>
        <c:spPr>
          <a:solidFill>
            <a:schemeClr val="accent1">
              <a:alpha val="70000"/>
            </a:schemeClr>
          </a:solidFill>
          <a:ln>
            <a:noFill/>
          </a:ln>
          <a:effectLst>
            <a:innerShdw blurRad="114300">
              <a:schemeClr val="accent1">
                <a:lumMod val="75000"/>
              </a:schemeClr>
            </a:innerShdw>
          </a:effectLst>
          <a:scene3d>
            <a:camera prst="orthographicFront"/>
            <a:lightRig rig="threePt" dir="t"/>
          </a:scene3d>
          <a:sp3d contourW="19050" prstMaterial="flat">
            <a:contourClr>
              <a:schemeClr val="accent1">
                <a:lumMod val="75000"/>
              </a:schemeClr>
            </a:contourClr>
          </a:sp3d>
        </c:spPr>
        <c:dLbl>
          <c:idx val="0"/>
          <c:spPr>
            <a:solidFill>
              <a:schemeClr val="lt1">
                <a:alpha val="90000"/>
              </a:schemeClr>
            </a:solidFill>
            <a:ln w="12700" cap="flat" cmpd="sng" algn="ctr">
              <a:solidFill>
                <a:schemeClr val="accent1"/>
              </a:solidFill>
              <a:round/>
            </a:ln>
            <a:effectLst>
              <a:outerShdw blurRad="50800" dist="38100" dir="2700000" algn="tl" rotWithShape="0">
                <a:schemeClr val="accent1">
                  <a:lumMod val="75000"/>
                  <a:alpha val="40000"/>
                </a:scheme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accent1"/>
                  </a:solidFill>
                  <a:effectLst/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xForSave val="1"/>
            </c:ext>
          </c:extLst>
        </c:dLbl>
      </c:pivotFmt>
      <c:pivotFmt>
        <c:idx val="15"/>
        <c:spPr>
          <a:solidFill>
            <a:schemeClr val="accent1">
              <a:alpha val="70000"/>
            </a:schemeClr>
          </a:solidFill>
          <a:ln>
            <a:noFill/>
          </a:ln>
          <a:effectLst>
            <a:innerShdw blurRad="114300">
              <a:schemeClr val="accent1">
                <a:lumMod val="75000"/>
              </a:schemeClr>
            </a:innerShdw>
          </a:effectLst>
          <a:scene3d>
            <a:camera prst="orthographicFront"/>
            <a:lightRig rig="threePt" dir="t"/>
          </a:scene3d>
          <a:sp3d contourW="19050" prstMaterial="flat">
            <a:contourClr>
              <a:schemeClr val="accent1">
                <a:lumMod val="75000"/>
              </a:schemeClr>
            </a:contourClr>
          </a:sp3d>
        </c:spPr>
        <c:dLbl>
          <c:idx val="0"/>
          <c:spPr>
            <a:solidFill>
              <a:schemeClr val="lt1">
                <a:alpha val="90000"/>
              </a:schemeClr>
            </a:solidFill>
            <a:ln w="12700" cap="flat" cmpd="sng" algn="ctr">
              <a:solidFill>
                <a:schemeClr val="accent1"/>
              </a:solidFill>
              <a:round/>
            </a:ln>
            <a:effectLst>
              <a:outerShdw blurRad="50800" dist="38100" dir="2700000" algn="tl" rotWithShape="0">
                <a:schemeClr val="accent1">
                  <a:lumMod val="75000"/>
                  <a:alpha val="40000"/>
                </a:scheme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accent1"/>
                  </a:solidFill>
                  <a:effectLst/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xForSave val="1"/>
            </c:ext>
          </c:extLst>
        </c:dLbl>
      </c:pivotFmt>
      <c:pivotFmt>
        <c:idx val="16"/>
        <c:spPr>
          <a:solidFill>
            <a:schemeClr val="accent1">
              <a:alpha val="70000"/>
            </a:schemeClr>
          </a:solidFill>
          <a:ln>
            <a:noFill/>
          </a:ln>
          <a:effectLst>
            <a:innerShdw blurRad="114300">
              <a:schemeClr val="accent1">
                <a:lumMod val="75000"/>
              </a:schemeClr>
            </a:innerShdw>
          </a:effectLst>
          <a:scene3d>
            <a:camera prst="orthographicFront"/>
            <a:lightRig rig="threePt" dir="t"/>
          </a:scene3d>
          <a:sp3d contourW="19050" prstMaterial="flat">
            <a:contourClr>
              <a:schemeClr val="accent1">
                <a:lumMod val="75000"/>
              </a:schemeClr>
            </a:contourClr>
          </a:sp3d>
        </c:spPr>
        <c:dLbl>
          <c:idx val="0"/>
          <c:spPr>
            <a:solidFill>
              <a:schemeClr val="lt1">
                <a:alpha val="90000"/>
              </a:schemeClr>
            </a:solidFill>
            <a:ln w="12700" cap="flat" cmpd="sng" algn="ctr">
              <a:solidFill>
                <a:schemeClr val="accent1"/>
              </a:solidFill>
              <a:round/>
            </a:ln>
            <a:effectLst>
              <a:outerShdw blurRad="50800" dist="38100" dir="2700000" algn="tl" rotWithShape="0">
                <a:schemeClr val="accent1">
                  <a:lumMod val="75000"/>
                  <a:alpha val="40000"/>
                </a:scheme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accent1"/>
                  </a:solidFill>
                  <a:effectLst/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xForSave val="1"/>
            </c:ext>
          </c:extLst>
        </c:dLbl>
      </c:pivotFmt>
      <c:pivotFmt>
        <c:idx val="17"/>
        <c:spPr>
          <a:solidFill>
            <a:schemeClr val="accent1">
              <a:alpha val="70000"/>
            </a:schemeClr>
          </a:solidFill>
          <a:ln>
            <a:noFill/>
          </a:ln>
          <a:effectLst>
            <a:innerShdw blurRad="114300">
              <a:schemeClr val="accent1">
                <a:lumMod val="75000"/>
              </a:schemeClr>
            </a:innerShdw>
          </a:effectLst>
          <a:scene3d>
            <a:camera prst="orthographicFront"/>
            <a:lightRig rig="threePt" dir="t"/>
          </a:scene3d>
          <a:sp3d contourW="19050" prstMaterial="flat">
            <a:contourClr>
              <a:schemeClr val="accent1">
                <a:lumMod val="75000"/>
              </a:schemeClr>
            </a:contourClr>
          </a:sp3d>
        </c:spPr>
        <c:dLbl>
          <c:idx val="0"/>
          <c:spPr>
            <a:solidFill>
              <a:schemeClr val="lt1">
                <a:alpha val="90000"/>
              </a:schemeClr>
            </a:solidFill>
            <a:ln w="12700" cap="flat" cmpd="sng" algn="ctr">
              <a:solidFill>
                <a:schemeClr val="accent1"/>
              </a:solidFill>
              <a:round/>
            </a:ln>
            <a:effectLst>
              <a:outerShdw blurRad="50800" dist="38100" dir="2700000" algn="tl" rotWithShape="0">
                <a:schemeClr val="accent1">
                  <a:lumMod val="75000"/>
                  <a:alpha val="40000"/>
                </a:scheme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accent1"/>
                  </a:solidFill>
                  <a:effectLst/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xForSave val="1"/>
            </c:ext>
          </c:extLst>
        </c:dLbl>
      </c:pivotFmt>
      <c:pivotFmt>
        <c:idx val="18"/>
        <c:spPr>
          <a:solidFill>
            <a:schemeClr val="accent1">
              <a:alpha val="70000"/>
            </a:schemeClr>
          </a:solidFill>
          <a:ln>
            <a:noFill/>
          </a:ln>
          <a:effectLst>
            <a:innerShdw blurRad="114300">
              <a:schemeClr val="accent1">
                <a:lumMod val="75000"/>
              </a:schemeClr>
            </a:innerShdw>
          </a:effectLst>
          <a:scene3d>
            <a:camera prst="orthographicFront"/>
            <a:lightRig rig="threePt" dir="t"/>
          </a:scene3d>
          <a:sp3d contourW="19050" prstMaterial="flat">
            <a:contourClr>
              <a:schemeClr val="accent1">
                <a:lumMod val="75000"/>
              </a:schemeClr>
            </a:contourClr>
          </a:sp3d>
        </c:spPr>
        <c:dLbl>
          <c:idx val="0"/>
          <c:spPr>
            <a:solidFill>
              <a:schemeClr val="lt1">
                <a:alpha val="90000"/>
              </a:schemeClr>
            </a:solidFill>
            <a:ln w="12700" cap="flat" cmpd="sng" algn="ctr">
              <a:solidFill>
                <a:schemeClr val="accent1"/>
              </a:solidFill>
              <a:round/>
            </a:ln>
            <a:effectLst>
              <a:outerShdw blurRad="50800" dist="38100" dir="2700000" algn="tl" rotWithShape="0">
                <a:schemeClr val="accent1">
                  <a:lumMod val="75000"/>
                  <a:alpha val="40000"/>
                </a:scheme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accent1"/>
                  </a:solidFill>
                  <a:effectLst/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xForSave val="1"/>
            </c:ext>
          </c:extLst>
        </c:dLbl>
      </c:pivotFmt>
      <c:pivotFmt>
        <c:idx val="19"/>
        <c:spPr>
          <a:solidFill>
            <a:schemeClr val="accent1">
              <a:alpha val="70000"/>
            </a:schemeClr>
          </a:solidFill>
          <a:ln>
            <a:noFill/>
          </a:ln>
          <a:effectLst>
            <a:innerShdw blurRad="114300">
              <a:schemeClr val="accent1">
                <a:lumMod val="75000"/>
              </a:schemeClr>
            </a:innerShdw>
          </a:effectLst>
          <a:scene3d>
            <a:camera prst="orthographicFront"/>
            <a:lightRig rig="threePt" dir="t"/>
          </a:scene3d>
          <a:sp3d contourW="19050" prstMaterial="flat">
            <a:contourClr>
              <a:schemeClr val="accent1">
                <a:lumMod val="75000"/>
              </a:schemeClr>
            </a:contourClr>
          </a:sp3d>
        </c:spPr>
        <c:dLbl>
          <c:idx val="0"/>
          <c:spPr>
            <a:solidFill>
              <a:schemeClr val="lt1">
                <a:alpha val="90000"/>
              </a:schemeClr>
            </a:solidFill>
            <a:ln w="12700" cap="flat" cmpd="sng" algn="ctr">
              <a:solidFill>
                <a:schemeClr val="accent1"/>
              </a:solidFill>
              <a:round/>
            </a:ln>
            <a:effectLst>
              <a:outerShdw blurRad="50800" dist="38100" dir="2700000" algn="tl" rotWithShape="0">
                <a:schemeClr val="accent1">
                  <a:lumMod val="75000"/>
                  <a:alpha val="40000"/>
                </a:scheme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accent1"/>
                  </a:solidFill>
                  <a:effectLst/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xForSave val="1"/>
            </c:ext>
          </c:extLst>
        </c:dLbl>
      </c:pivotFmt>
      <c:pivotFmt>
        <c:idx val="20"/>
        <c:spPr>
          <a:solidFill>
            <a:schemeClr val="accent1">
              <a:alpha val="70000"/>
            </a:schemeClr>
          </a:solidFill>
          <a:ln>
            <a:noFill/>
          </a:ln>
          <a:effectLst>
            <a:innerShdw blurRad="114300">
              <a:schemeClr val="accent1">
                <a:lumMod val="75000"/>
              </a:schemeClr>
            </a:innerShdw>
          </a:effectLst>
          <a:scene3d>
            <a:camera prst="orthographicFront"/>
            <a:lightRig rig="threePt" dir="t"/>
          </a:scene3d>
          <a:sp3d contourW="19050" prstMaterial="flat">
            <a:contourClr>
              <a:schemeClr val="accent1">
                <a:lumMod val="75000"/>
              </a:schemeClr>
            </a:contourClr>
          </a:sp3d>
        </c:spPr>
        <c:marker>
          <c:symbol val="none"/>
        </c:marker>
        <c:dLbl>
          <c:idx val="0"/>
          <c:spPr>
            <a:solidFill>
              <a:schemeClr val="lt1">
                <a:alpha val="90000"/>
              </a:schemeClr>
            </a:solidFill>
            <a:ln w="12700" cap="flat" cmpd="sng" algn="ctr">
              <a:solidFill>
                <a:schemeClr val="accent1"/>
              </a:solidFill>
              <a:round/>
            </a:ln>
            <a:effectLst>
              <a:outerShdw blurRad="50800" dist="38100" dir="2700000" algn="tl" rotWithShape="0">
                <a:schemeClr val="accent1">
                  <a:lumMod val="75000"/>
                  <a:alpha val="40000"/>
                </a:scheme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accent1"/>
                  </a:solidFill>
                  <a:effectLst/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>
              <a:alpha val="70000"/>
            </a:schemeClr>
          </a:solidFill>
          <a:ln>
            <a:noFill/>
          </a:ln>
          <a:effectLst>
            <a:innerShdw blurRad="114300">
              <a:schemeClr val="accent1">
                <a:lumMod val="75000"/>
              </a:schemeClr>
            </a:innerShdw>
          </a:effectLst>
          <a:scene3d>
            <a:camera prst="orthographicFront"/>
            <a:lightRig rig="threePt" dir="t"/>
          </a:scene3d>
          <a:sp3d contourW="19050" prstMaterial="flat">
            <a:contourClr>
              <a:schemeClr val="accent1">
                <a:lumMod val="75000"/>
              </a:schemeClr>
            </a:contourClr>
          </a:sp3d>
        </c:spPr>
        <c:dLbl>
          <c:idx val="0"/>
          <c:spPr>
            <a:solidFill>
              <a:schemeClr val="lt1">
                <a:alpha val="90000"/>
              </a:schemeClr>
            </a:solidFill>
            <a:ln w="12700" cap="flat" cmpd="sng" algn="ctr">
              <a:solidFill>
                <a:schemeClr val="accent1"/>
              </a:solidFill>
              <a:round/>
            </a:ln>
            <a:effectLst>
              <a:outerShdw blurRad="50800" dist="38100" dir="2700000" algn="tl" rotWithShape="0">
                <a:schemeClr val="accent1">
                  <a:lumMod val="75000"/>
                  <a:alpha val="40000"/>
                </a:scheme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accent1"/>
                  </a:solidFill>
                  <a:effectLst/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>
              <a:alpha val="70000"/>
            </a:schemeClr>
          </a:solidFill>
          <a:ln>
            <a:noFill/>
          </a:ln>
          <a:effectLst>
            <a:innerShdw blurRad="114300">
              <a:schemeClr val="accent1">
                <a:lumMod val="75000"/>
              </a:schemeClr>
            </a:innerShdw>
          </a:effectLst>
          <a:scene3d>
            <a:camera prst="orthographicFront"/>
            <a:lightRig rig="threePt" dir="t"/>
          </a:scene3d>
          <a:sp3d contourW="19050" prstMaterial="flat">
            <a:contourClr>
              <a:schemeClr val="accent1">
                <a:lumMod val="75000"/>
              </a:schemeClr>
            </a:contourClr>
          </a:sp3d>
        </c:spPr>
        <c:dLbl>
          <c:idx val="0"/>
          <c:spPr>
            <a:solidFill>
              <a:schemeClr val="lt1">
                <a:alpha val="90000"/>
              </a:schemeClr>
            </a:solidFill>
            <a:ln w="12700" cap="flat" cmpd="sng" algn="ctr">
              <a:solidFill>
                <a:schemeClr val="accent1"/>
              </a:solidFill>
              <a:round/>
            </a:ln>
            <a:effectLst>
              <a:outerShdw blurRad="50800" dist="38100" dir="2700000" algn="tl" rotWithShape="0">
                <a:schemeClr val="accent1">
                  <a:lumMod val="75000"/>
                  <a:alpha val="40000"/>
                </a:scheme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accent1"/>
                  </a:solidFill>
                  <a:effectLst/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>
              <a:alpha val="70000"/>
            </a:schemeClr>
          </a:solidFill>
          <a:ln>
            <a:noFill/>
          </a:ln>
          <a:effectLst>
            <a:innerShdw blurRad="114300">
              <a:schemeClr val="accent1">
                <a:lumMod val="75000"/>
              </a:schemeClr>
            </a:innerShdw>
          </a:effectLst>
          <a:scene3d>
            <a:camera prst="orthographicFront"/>
            <a:lightRig rig="threePt" dir="t"/>
          </a:scene3d>
          <a:sp3d contourW="19050" prstMaterial="flat">
            <a:contourClr>
              <a:schemeClr val="accent1">
                <a:lumMod val="75000"/>
              </a:schemeClr>
            </a:contourClr>
          </a:sp3d>
        </c:spPr>
        <c:dLbl>
          <c:idx val="0"/>
          <c:spPr>
            <a:solidFill>
              <a:schemeClr val="lt1">
                <a:alpha val="90000"/>
              </a:schemeClr>
            </a:solidFill>
            <a:ln w="12700" cap="flat" cmpd="sng" algn="ctr">
              <a:solidFill>
                <a:schemeClr val="accent1"/>
              </a:solidFill>
              <a:round/>
            </a:ln>
            <a:effectLst>
              <a:outerShdw blurRad="50800" dist="38100" dir="2700000" algn="tl" rotWithShape="0">
                <a:schemeClr val="accent1">
                  <a:lumMod val="75000"/>
                  <a:alpha val="40000"/>
                </a:scheme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accent1"/>
                  </a:solidFill>
                  <a:effectLst/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accent1">
              <a:alpha val="70000"/>
            </a:schemeClr>
          </a:solidFill>
          <a:ln>
            <a:noFill/>
          </a:ln>
          <a:effectLst>
            <a:innerShdw blurRad="114300">
              <a:schemeClr val="accent1">
                <a:lumMod val="75000"/>
              </a:schemeClr>
            </a:innerShdw>
          </a:effectLst>
          <a:scene3d>
            <a:camera prst="orthographicFront"/>
            <a:lightRig rig="threePt" dir="t"/>
          </a:scene3d>
          <a:sp3d contourW="19050" prstMaterial="flat">
            <a:contourClr>
              <a:schemeClr val="accent1">
                <a:lumMod val="75000"/>
              </a:schemeClr>
            </a:contourClr>
          </a:sp3d>
        </c:spPr>
        <c:dLbl>
          <c:idx val="0"/>
          <c:spPr>
            <a:solidFill>
              <a:schemeClr val="lt1">
                <a:alpha val="90000"/>
              </a:schemeClr>
            </a:solidFill>
            <a:ln w="12700" cap="flat" cmpd="sng" algn="ctr">
              <a:solidFill>
                <a:schemeClr val="accent1"/>
              </a:solidFill>
              <a:round/>
            </a:ln>
            <a:effectLst>
              <a:outerShdw blurRad="50800" dist="38100" dir="2700000" algn="tl" rotWithShape="0">
                <a:schemeClr val="accent1">
                  <a:lumMod val="75000"/>
                  <a:alpha val="40000"/>
                </a:scheme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accent1"/>
                  </a:solidFill>
                  <a:effectLst/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1">
              <a:alpha val="70000"/>
            </a:schemeClr>
          </a:solidFill>
          <a:ln>
            <a:noFill/>
          </a:ln>
          <a:effectLst>
            <a:innerShdw blurRad="114300">
              <a:schemeClr val="accent1">
                <a:lumMod val="75000"/>
              </a:schemeClr>
            </a:innerShdw>
          </a:effectLst>
          <a:scene3d>
            <a:camera prst="orthographicFront"/>
            <a:lightRig rig="threePt" dir="t"/>
          </a:scene3d>
          <a:sp3d contourW="19050" prstMaterial="flat">
            <a:contourClr>
              <a:schemeClr val="accent1">
                <a:lumMod val="75000"/>
              </a:schemeClr>
            </a:contourClr>
          </a:sp3d>
        </c:spPr>
        <c:dLbl>
          <c:idx val="0"/>
          <c:spPr>
            <a:solidFill>
              <a:schemeClr val="lt1">
                <a:alpha val="90000"/>
              </a:schemeClr>
            </a:solidFill>
            <a:ln w="12700" cap="flat" cmpd="sng" algn="ctr">
              <a:solidFill>
                <a:schemeClr val="accent1"/>
              </a:solidFill>
              <a:round/>
            </a:ln>
            <a:effectLst>
              <a:outerShdw blurRad="50800" dist="38100" dir="2700000" algn="tl" rotWithShape="0">
                <a:schemeClr val="accent1">
                  <a:lumMod val="75000"/>
                  <a:alpha val="40000"/>
                </a:scheme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accent1"/>
                  </a:solidFill>
                  <a:effectLst/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1">
              <a:alpha val="70000"/>
            </a:schemeClr>
          </a:solidFill>
          <a:ln>
            <a:noFill/>
          </a:ln>
          <a:effectLst>
            <a:innerShdw blurRad="114300">
              <a:schemeClr val="accent1">
                <a:lumMod val="75000"/>
              </a:schemeClr>
            </a:innerShdw>
          </a:effectLst>
          <a:scene3d>
            <a:camera prst="orthographicFront"/>
            <a:lightRig rig="threePt" dir="t"/>
          </a:scene3d>
          <a:sp3d contourW="19050" prstMaterial="flat">
            <a:contourClr>
              <a:schemeClr val="accent1">
                <a:lumMod val="75000"/>
              </a:schemeClr>
            </a:contourClr>
          </a:sp3d>
        </c:spPr>
        <c:dLbl>
          <c:idx val="0"/>
          <c:spPr>
            <a:solidFill>
              <a:schemeClr val="lt1">
                <a:alpha val="90000"/>
              </a:schemeClr>
            </a:solidFill>
            <a:ln w="12700" cap="flat" cmpd="sng" algn="ctr">
              <a:solidFill>
                <a:schemeClr val="accent1"/>
              </a:solidFill>
              <a:round/>
            </a:ln>
            <a:effectLst>
              <a:outerShdw blurRad="50800" dist="38100" dir="2700000" algn="tl" rotWithShape="0">
                <a:schemeClr val="accent1">
                  <a:lumMod val="75000"/>
                  <a:alpha val="40000"/>
                </a:scheme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accent1"/>
                  </a:solidFill>
                  <a:effectLst/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solidFill>
            <a:schemeClr val="accent1">
              <a:alpha val="70000"/>
            </a:schemeClr>
          </a:solidFill>
          <a:ln>
            <a:noFill/>
          </a:ln>
          <a:effectLst>
            <a:innerShdw blurRad="114300">
              <a:schemeClr val="accent1">
                <a:lumMod val="75000"/>
              </a:schemeClr>
            </a:innerShdw>
          </a:effectLst>
          <a:scene3d>
            <a:camera prst="orthographicFront"/>
            <a:lightRig rig="threePt" dir="t"/>
          </a:scene3d>
          <a:sp3d contourW="19050" prstMaterial="flat">
            <a:contourClr>
              <a:schemeClr val="accent1">
                <a:lumMod val="75000"/>
              </a:schemeClr>
            </a:contourClr>
          </a:sp3d>
        </c:spPr>
        <c:dLbl>
          <c:idx val="0"/>
          <c:spPr>
            <a:solidFill>
              <a:schemeClr val="lt1">
                <a:alpha val="90000"/>
              </a:schemeClr>
            </a:solidFill>
            <a:ln w="12700" cap="flat" cmpd="sng" algn="ctr">
              <a:solidFill>
                <a:schemeClr val="accent1"/>
              </a:solidFill>
              <a:round/>
            </a:ln>
            <a:effectLst>
              <a:outerShdw blurRad="50800" dist="38100" dir="2700000" algn="tl" rotWithShape="0">
                <a:schemeClr val="accent1">
                  <a:lumMod val="75000"/>
                  <a:alpha val="40000"/>
                </a:scheme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accent1"/>
                  </a:solidFill>
                  <a:effectLst/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spPr>
          <a:solidFill>
            <a:schemeClr val="accent1">
              <a:alpha val="70000"/>
            </a:schemeClr>
          </a:solidFill>
          <a:ln>
            <a:noFill/>
          </a:ln>
          <a:effectLst>
            <a:innerShdw blurRad="114300">
              <a:schemeClr val="accent1">
                <a:lumMod val="75000"/>
              </a:schemeClr>
            </a:innerShdw>
          </a:effectLst>
          <a:scene3d>
            <a:camera prst="orthographicFront"/>
            <a:lightRig rig="threePt" dir="t"/>
          </a:scene3d>
          <a:sp3d contourW="19050" prstMaterial="flat">
            <a:contourClr>
              <a:schemeClr val="accent1">
                <a:lumMod val="75000"/>
              </a:schemeClr>
            </a:contourClr>
          </a:sp3d>
        </c:spPr>
        <c:dLbl>
          <c:idx val="0"/>
          <c:spPr>
            <a:solidFill>
              <a:schemeClr val="lt1">
                <a:alpha val="90000"/>
              </a:schemeClr>
            </a:solidFill>
            <a:ln w="12700" cap="flat" cmpd="sng" algn="ctr">
              <a:solidFill>
                <a:schemeClr val="accent1"/>
              </a:solidFill>
              <a:round/>
            </a:ln>
            <a:effectLst>
              <a:outerShdw blurRad="50800" dist="38100" dir="2700000" algn="tl" rotWithShape="0">
                <a:schemeClr val="accent1">
                  <a:lumMod val="75000"/>
                  <a:alpha val="40000"/>
                </a:scheme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accent1"/>
                  </a:solidFill>
                  <a:effectLst/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spPr>
          <a:solidFill>
            <a:schemeClr val="accent1">
              <a:alpha val="70000"/>
            </a:schemeClr>
          </a:solidFill>
          <a:ln>
            <a:noFill/>
          </a:ln>
          <a:effectLst>
            <a:innerShdw blurRad="114300">
              <a:schemeClr val="accent1">
                <a:lumMod val="75000"/>
              </a:schemeClr>
            </a:innerShdw>
          </a:effectLst>
          <a:scene3d>
            <a:camera prst="orthographicFront"/>
            <a:lightRig rig="threePt" dir="t"/>
          </a:scene3d>
          <a:sp3d contourW="19050" prstMaterial="flat">
            <a:contourClr>
              <a:schemeClr val="accent1">
                <a:lumMod val="75000"/>
              </a:schemeClr>
            </a:contourClr>
          </a:sp3d>
        </c:spPr>
        <c:dLbl>
          <c:idx val="0"/>
          <c:spPr>
            <a:solidFill>
              <a:schemeClr val="lt1">
                <a:alpha val="90000"/>
              </a:schemeClr>
            </a:solidFill>
            <a:ln w="12700" cap="flat" cmpd="sng" algn="ctr">
              <a:solidFill>
                <a:schemeClr val="accent1"/>
              </a:solidFill>
              <a:round/>
            </a:ln>
            <a:effectLst>
              <a:outerShdw blurRad="50800" dist="38100" dir="2700000" algn="tl" rotWithShape="0">
                <a:schemeClr val="accent1">
                  <a:lumMod val="75000"/>
                  <a:alpha val="40000"/>
                </a:scheme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accent1"/>
                  </a:solidFill>
                  <a:effectLst/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5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'Sales per product Top seilling '!$B$55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>
                  <a:alpha val="90000"/>
                </a:schemeClr>
              </a:solidFill>
              <a:ln w="19050">
                <a:solidFill>
                  <a:schemeClr val="accent1">
                    <a:lumMod val="75000"/>
                  </a:schemeClr>
                </a:solidFill>
              </a:ln>
              <a:effectLst>
                <a:innerShdw blurRad="114300">
                  <a:schemeClr val="accent1">
                    <a:lumMod val="75000"/>
                  </a:schemeClr>
                </a:innerShdw>
              </a:effectLst>
              <a:scene3d>
                <a:camera prst="orthographicFront"/>
                <a:lightRig rig="threePt" dir="t"/>
              </a:scene3d>
              <a:sp3d contourW="19050" prstMaterial="flat">
                <a:contourClr>
                  <a:schemeClr val="accent1">
                    <a:lumMod val="75000"/>
                  </a:schemeClr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03CB-764A-BAE5-DAC9491CE7F7}"/>
              </c:ext>
            </c:extLst>
          </c:dPt>
          <c:dPt>
            <c:idx val="1"/>
            <c:bubble3D val="0"/>
            <c:spPr>
              <a:solidFill>
                <a:schemeClr val="accent2">
                  <a:alpha val="90000"/>
                </a:schemeClr>
              </a:solidFill>
              <a:ln w="19050">
                <a:solidFill>
                  <a:schemeClr val="accent2">
                    <a:lumMod val="75000"/>
                  </a:schemeClr>
                </a:solidFill>
              </a:ln>
              <a:effectLst>
                <a:innerShdw blurRad="114300">
                  <a:schemeClr val="accent2">
                    <a:lumMod val="75000"/>
                  </a:schemeClr>
                </a:innerShdw>
              </a:effectLst>
              <a:scene3d>
                <a:camera prst="orthographicFront"/>
                <a:lightRig rig="threePt" dir="t"/>
              </a:scene3d>
              <a:sp3d contourW="19050" prstMaterial="flat">
                <a:contourClr>
                  <a:schemeClr val="accent2">
                    <a:lumMod val="75000"/>
                  </a:schemeClr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03CB-764A-BAE5-DAC9491CE7F7}"/>
              </c:ext>
            </c:extLst>
          </c:dPt>
          <c:dPt>
            <c:idx val="2"/>
            <c:bubble3D val="0"/>
            <c:spPr>
              <a:solidFill>
                <a:schemeClr val="accent3">
                  <a:alpha val="90000"/>
                </a:schemeClr>
              </a:solidFill>
              <a:ln w="19050">
                <a:solidFill>
                  <a:schemeClr val="accent3">
                    <a:lumMod val="75000"/>
                  </a:schemeClr>
                </a:solidFill>
              </a:ln>
              <a:effectLst>
                <a:innerShdw blurRad="114300">
                  <a:schemeClr val="accent3">
                    <a:lumMod val="75000"/>
                  </a:schemeClr>
                </a:innerShdw>
              </a:effectLst>
              <a:scene3d>
                <a:camera prst="orthographicFront"/>
                <a:lightRig rig="threePt" dir="t"/>
              </a:scene3d>
              <a:sp3d contourW="19050" prstMaterial="flat">
                <a:contourClr>
                  <a:schemeClr val="accent3">
                    <a:lumMod val="75000"/>
                  </a:schemeClr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03CB-764A-BAE5-DAC9491CE7F7}"/>
              </c:ext>
            </c:extLst>
          </c:dPt>
          <c:dPt>
            <c:idx val="3"/>
            <c:bubble3D val="0"/>
            <c:spPr>
              <a:solidFill>
                <a:schemeClr val="accent4">
                  <a:alpha val="90000"/>
                </a:schemeClr>
              </a:solidFill>
              <a:ln w="19050">
                <a:solidFill>
                  <a:schemeClr val="accent4">
                    <a:lumMod val="75000"/>
                  </a:schemeClr>
                </a:solidFill>
              </a:ln>
              <a:effectLst>
                <a:innerShdw blurRad="114300">
                  <a:schemeClr val="accent4">
                    <a:lumMod val="75000"/>
                  </a:schemeClr>
                </a:innerShdw>
              </a:effectLst>
              <a:scene3d>
                <a:camera prst="orthographicFront"/>
                <a:lightRig rig="threePt" dir="t"/>
              </a:scene3d>
              <a:sp3d contourW="19050" prstMaterial="flat">
                <a:contourClr>
                  <a:schemeClr val="accent4">
                    <a:lumMod val="75000"/>
                  </a:schemeClr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03CB-764A-BAE5-DAC9491CE7F7}"/>
              </c:ext>
            </c:extLst>
          </c:dPt>
          <c:dPt>
            <c:idx val="4"/>
            <c:bubble3D val="0"/>
            <c:spPr>
              <a:solidFill>
                <a:schemeClr val="accent5">
                  <a:alpha val="90000"/>
                </a:schemeClr>
              </a:solidFill>
              <a:ln w="19050">
                <a:solidFill>
                  <a:schemeClr val="accent5">
                    <a:lumMod val="75000"/>
                  </a:schemeClr>
                </a:solidFill>
              </a:ln>
              <a:effectLst>
                <a:innerShdw blurRad="114300">
                  <a:schemeClr val="accent5">
                    <a:lumMod val="75000"/>
                  </a:schemeClr>
                </a:innerShdw>
              </a:effectLst>
              <a:scene3d>
                <a:camera prst="orthographicFront"/>
                <a:lightRig rig="threePt" dir="t"/>
              </a:scene3d>
              <a:sp3d contourW="19050" prstMaterial="flat">
                <a:contourClr>
                  <a:schemeClr val="accent5">
                    <a:lumMod val="75000"/>
                  </a:schemeClr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9-03CB-764A-BAE5-DAC9491CE7F7}"/>
              </c:ext>
            </c:extLst>
          </c:dPt>
          <c:dPt>
            <c:idx val="5"/>
            <c:bubble3D val="0"/>
            <c:spPr>
              <a:solidFill>
                <a:schemeClr val="accent6">
                  <a:alpha val="90000"/>
                </a:schemeClr>
              </a:solidFill>
              <a:ln w="19050">
                <a:solidFill>
                  <a:schemeClr val="accent6">
                    <a:lumMod val="75000"/>
                  </a:schemeClr>
                </a:solidFill>
              </a:ln>
              <a:effectLst>
                <a:innerShdw blurRad="114300">
                  <a:schemeClr val="accent6">
                    <a:lumMod val="75000"/>
                  </a:schemeClr>
                </a:innerShdw>
              </a:effectLst>
              <a:scene3d>
                <a:camera prst="orthographicFront"/>
                <a:lightRig rig="threePt" dir="t"/>
              </a:scene3d>
              <a:sp3d contourW="19050" prstMaterial="flat">
                <a:contourClr>
                  <a:schemeClr val="accent6">
                    <a:lumMod val="75000"/>
                  </a:schemeClr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B-03CB-764A-BAE5-DAC9491CE7F7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  <a:alpha val="90000"/>
                </a:schemeClr>
              </a:solidFill>
              <a:ln w="19050">
                <a:solidFill>
                  <a:schemeClr val="accent1">
                    <a:lumMod val="60000"/>
                    <a:lumMod val="75000"/>
                  </a:schemeClr>
                </a:solidFill>
              </a:ln>
              <a:effectLst>
                <a:innerShdw blurRad="114300">
                  <a:schemeClr val="accent1">
                    <a:lumMod val="60000"/>
                    <a:lumMod val="75000"/>
                  </a:schemeClr>
                </a:innerShdw>
              </a:effectLst>
              <a:scene3d>
                <a:camera prst="orthographicFront"/>
                <a:lightRig rig="threePt" dir="t"/>
              </a:scene3d>
              <a:sp3d contourW="19050" prstMaterial="flat">
                <a:contourClr>
                  <a:schemeClr val="accent1">
                    <a:lumMod val="60000"/>
                    <a:lumMod val="75000"/>
                  </a:schemeClr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D-03CB-764A-BAE5-DAC9491CE7F7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  <a:alpha val="90000"/>
                </a:schemeClr>
              </a:solidFill>
              <a:ln w="19050">
                <a:solidFill>
                  <a:schemeClr val="accent2">
                    <a:lumMod val="60000"/>
                    <a:lumMod val="75000"/>
                  </a:schemeClr>
                </a:solidFill>
              </a:ln>
              <a:effectLst>
                <a:innerShdw blurRad="114300">
                  <a:schemeClr val="accent2">
                    <a:lumMod val="60000"/>
                    <a:lumMod val="75000"/>
                  </a:schemeClr>
                </a:innerShdw>
              </a:effectLst>
              <a:scene3d>
                <a:camera prst="orthographicFront"/>
                <a:lightRig rig="threePt" dir="t"/>
              </a:scene3d>
              <a:sp3d contourW="19050" prstMaterial="flat">
                <a:contourClr>
                  <a:schemeClr val="accent2">
                    <a:lumMod val="60000"/>
                    <a:lumMod val="75000"/>
                  </a:schemeClr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F-03CB-764A-BAE5-DAC9491CE7F7}"/>
              </c:ext>
            </c:extLst>
          </c:dPt>
          <c:dPt>
            <c:idx val="8"/>
            <c:bubble3D val="0"/>
            <c:spPr>
              <a:solidFill>
                <a:schemeClr val="accent3">
                  <a:lumMod val="60000"/>
                  <a:alpha val="90000"/>
                </a:schemeClr>
              </a:solidFill>
              <a:ln w="19050">
                <a:solidFill>
                  <a:schemeClr val="accent3">
                    <a:lumMod val="60000"/>
                    <a:lumMod val="75000"/>
                  </a:schemeClr>
                </a:solidFill>
              </a:ln>
              <a:effectLst>
                <a:innerShdw blurRad="114300">
                  <a:schemeClr val="accent3">
                    <a:lumMod val="60000"/>
                    <a:lumMod val="75000"/>
                  </a:schemeClr>
                </a:innerShdw>
              </a:effectLst>
              <a:scene3d>
                <a:camera prst="orthographicFront"/>
                <a:lightRig rig="threePt" dir="t"/>
              </a:scene3d>
              <a:sp3d contourW="19050" prstMaterial="flat">
                <a:contourClr>
                  <a:schemeClr val="accent3">
                    <a:lumMod val="60000"/>
                    <a:lumMod val="75000"/>
                  </a:schemeClr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1-03CB-764A-BAE5-DAC9491CE7F7}"/>
              </c:ext>
            </c:extLst>
          </c:dPt>
          <c:dLbls>
            <c:dLbl>
              <c:idx val="0"/>
              <c:spPr>
                <a:solidFill>
                  <a:schemeClr val="lt1">
                    <a:alpha val="90000"/>
                  </a:schemeClr>
                </a:solidFill>
                <a:ln w="12700" cap="flat" cmpd="sng" algn="ctr">
                  <a:solidFill>
                    <a:schemeClr val="accent1"/>
                  </a:solidFill>
                  <a:round/>
                </a:ln>
                <a:effectLst>
                  <a:outerShdw blurRad="50800" dist="38100" dir="2700000" algn="tl" rotWithShape="0">
                    <a:schemeClr val="accent1">
                      <a:lumMod val="75000"/>
                      <a:alpha val="40000"/>
                    </a:schemeClr>
                  </a:outerShdw>
                </a:effectLst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chemeClr val="accent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03CB-764A-BAE5-DAC9491CE7F7}"/>
                </c:ext>
              </c:extLst>
            </c:dLbl>
            <c:dLbl>
              <c:idx val="1"/>
              <c:spPr>
                <a:solidFill>
                  <a:schemeClr val="lt1">
                    <a:alpha val="90000"/>
                  </a:schemeClr>
                </a:solidFill>
                <a:ln w="12700" cap="flat" cmpd="sng" algn="ctr">
                  <a:solidFill>
                    <a:schemeClr val="accent2"/>
                  </a:solidFill>
                  <a:round/>
                </a:ln>
                <a:effectLst>
                  <a:outerShdw blurRad="50800" dist="38100" dir="2700000" algn="tl" rotWithShape="0">
                    <a:schemeClr val="accent2">
                      <a:lumMod val="75000"/>
                      <a:alpha val="40000"/>
                    </a:schemeClr>
                  </a:outerShdw>
                </a:effectLst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chemeClr val="accent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03CB-764A-BAE5-DAC9491CE7F7}"/>
                </c:ext>
              </c:extLst>
            </c:dLbl>
            <c:dLbl>
              <c:idx val="2"/>
              <c:spPr>
                <a:solidFill>
                  <a:schemeClr val="lt1">
                    <a:alpha val="90000"/>
                  </a:schemeClr>
                </a:solidFill>
                <a:ln w="12700" cap="flat" cmpd="sng" algn="ctr">
                  <a:solidFill>
                    <a:schemeClr val="accent3"/>
                  </a:solidFill>
                  <a:round/>
                </a:ln>
                <a:effectLst>
                  <a:outerShdw blurRad="50800" dist="38100" dir="2700000" algn="tl" rotWithShape="0">
                    <a:schemeClr val="accent3">
                      <a:lumMod val="75000"/>
                      <a:alpha val="40000"/>
                    </a:schemeClr>
                  </a:outerShdw>
                </a:effectLst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chemeClr val="accent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03CB-764A-BAE5-DAC9491CE7F7}"/>
                </c:ext>
              </c:extLst>
            </c:dLbl>
            <c:dLbl>
              <c:idx val="3"/>
              <c:spPr>
                <a:solidFill>
                  <a:schemeClr val="lt1">
                    <a:alpha val="90000"/>
                  </a:schemeClr>
                </a:solidFill>
                <a:ln w="12700" cap="flat" cmpd="sng" algn="ctr">
                  <a:solidFill>
                    <a:schemeClr val="accent4"/>
                  </a:solidFill>
                  <a:round/>
                </a:ln>
                <a:effectLst>
                  <a:outerShdw blurRad="50800" dist="38100" dir="2700000" algn="tl" rotWithShape="0">
                    <a:schemeClr val="accent4">
                      <a:lumMod val="75000"/>
                      <a:alpha val="40000"/>
                    </a:schemeClr>
                  </a:outerShdw>
                </a:effectLst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chemeClr val="accent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7-03CB-764A-BAE5-DAC9491CE7F7}"/>
                </c:ext>
              </c:extLst>
            </c:dLbl>
            <c:dLbl>
              <c:idx val="4"/>
              <c:spPr>
                <a:solidFill>
                  <a:schemeClr val="lt1">
                    <a:alpha val="90000"/>
                  </a:schemeClr>
                </a:solidFill>
                <a:ln w="12700" cap="flat" cmpd="sng" algn="ctr">
                  <a:solidFill>
                    <a:schemeClr val="accent5"/>
                  </a:solidFill>
                  <a:round/>
                </a:ln>
                <a:effectLst>
                  <a:outerShdw blurRad="50800" dist="38100" dir="2700000" algn="tl" rotWithShape="0">
                    <a:schemeClr val="accent5">
                      <a:lumMod val="75000"/>
                      <a:alpha val="40000"/>
                    </a:schemeClr>
                  </a:outerShdw>
                </a:effectLst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chemeClr val="accent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9-03CB-764A-BAE5-DAC9491CE7F7}"/>
                </c:ext>
              </c:extLst>
            </c:dLbl>
            <c:dLbl>
              <c:idx val="5"/>
              <c:spPr>
                <a:solidFill>
                  <a:schemeClr val="lt1">
                    <a:alpha val="90000"/>
                  </a:schemeClr>
                </a:solidFill>
                <a:ln w="12700" cap="flat" cmpd="sng" algn="ctr">
                  <a:solidFill>
                    <a:schemeClr val="accent6"/>
                  </a:solidFill>
                  <a:round/>
                </a:ln>
                <a:effectLst>
                  <a:outerShdw blurRad="50800" dist="38100" dir="2700000" algn="tl" rotWithShape="0">
                    <a:schemeClr val="accent6">
                      <a:lumMod val="75000"/>
                      <a:alpha val="40000"/>
                    </a:schemeClr>
                  </a:outerShdw>
                </a:effectLst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chemeClr val="accent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B-03CB-764A-BAE5-DAC9491CE7F7}"/>
                </c:ext>
              </c:extLst>
            </c:dLbl>
            <c:dLbl>
              <c:idx val="6"/>
              <c:spPr>
                <a:solidFill>
                  <a:schemeClr val="lt1">
                    <a:alpha val="90000"/>
                  </a:schemeClr>
                </a:solidFill>
                <a:ln w="12700" cap="flat" cmpd="sng" algn="ctr">
                  <a:solidFill>
                    <a:schemeClr val="accent1">
                      <a:lumMod val="60000"/>
                    </a:schemeClr>
                  </a:solidFill>
                  <a:round/>
                </a:ln>
                <a:effectLst>
                  <a:outerShdw blurRad="50800" dist="38100" dir="2700000" algn="tl" rotWithShape="0">
                    <a:schemeClr val="accent1">
                      <a:lumMod val="60000"/>
                      <a:lumMod val="75000"/>
                      <a:alpha val="40000"/>
                    </a:schemeClr>
                  </a:outerShdw>
                </a:effectLst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chemeClr val="accent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D-03CB-764A-BAE5-DAC9491CE7F7}"/>
                </c:ext>
              </c:extLst>
            </c:dLbl>
            <c:dLbl>
              <c:idx val="7"/>
              <c:spPr>
                <a:solidFill>
                  <a:schemeClr val="lt1">
                    <a:alpha val="90000"/>
                  </a:schemeClr>
                </a:solidFill>
                <a:ln w="12700" cap="flat" cmpd="sng" algn="ctr">
                  <a:solidFill>
                    <a:schemeClr val="accent2">
                      <a:lumMod val="60000"/>
                    </a:schemeClr>
                  </a:solidFill>
                  <a:round/>
                </a:ln>
                <a:effectLst>
                  <a:outerShdw blurRad="50800" dist="38100" dir="2700000" algn="tl" rotWithShape="0">
                    <a:schemeClr val="accent2">
                      <a:lumMod val="60000"/>
                      <a:lumMod val="75000"/>
                      <a:alpha val="40000"/>
                    </a:schemeClr>
                  </a:outerShdw>
                </a:effectLst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chemeClr val="accent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F-03CB-764A-BAE5-DAC9491CE7F7}"/>
                </c:ext>
              </c:extLst>
            </c:dLbl>
            <c:dLbl>
              <c:idx val="8"/>
              <c:spPr>
                <a:solidFill>
                  <a:schemeClr val="lt1">
                    <a:alpha val="90000"/>
                  </a:schemeClr>
                </a:solidFill>
                <a:ln w="12700" cap="flat" cmpd="sng" algn="ctr">
                  <a:solidFill>
                    <a:schemeClr val="accent3">
                      <a:lumMod val="60000"/>
                    </a:schemeClr>
                  </a:solidFill>
                  <a:round/>
                </a:ln>
                <a:effectLst>
                  <a:outerShdw blurRad="50800" dist="38100" dir="2700000" algn="tl" rotWithShape="0">
                    <a:schemeClr val="accent3">
                      <a:lumMod val="60000"/>
                      <a:lumMod val="75000"/>
                      <a:alpha val="40000"/>
                    </a:schemeClr>
                  </a:outerShdw>
                </a:effectLst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chemeClr val="accent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1-03CB-764A-BAE5-DAC9491CE7F7}"/>
                </c:ext>
              </c:extLst>
            </c:dLbl>
            <c:spPr>
              <a:solidFill>
                <a:prstClr val="white">
                  <a:alpha val="90000"/>
                </a:prstClr>
              </a:solidFill>
              <a:ln w="12700" cap="flat" cmpd="sng" algn="ctr">
                <a:solidFill>
                  <a:srgbClr val="BC451B"/>
                </a:solidFill>
                <a:round/>
              </a:ln>
              <a:effectLst>
                <a:outerShdw blurRad="50800" dist="38100" dir="2700000" algn="tl" rotWithShape="0">
                  <a:srgbClr val="BC451B">
                    <a:lumMod val="75000"/>
                    <a:alpha val="40000"/>
                  </a:srgbClr>
                </a:outerShdw>
              </a:effectLst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accent1"/>
                    </a:solidFill>
                    <a:effectLst/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1"/>
            <c:showSerName val="0"/>
            <c:showPercent val="0"/>
            <c:showBubbleSize val="0"/>
            <c:showLeaderLines val="1"/>
            <c:leaderLines>
              <c:spPr>
                <a:ln w="9525">
                  <a:solidFill>
                    <a:schemeClr val="tx1">
                      <a:lumMod val="35000"/>
                      <a:lumOff val="65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'Sales per product Top seilling '!$A$56:$A$65</c:f>
              <c:strCache>
                <c:ptCount val="9"/>
                <c:pt idx="0">
                  <c:v>Bakery</c:v>
                </c:pt>
                <c:pt idx="1">
                  <c:v>Branded</c:v>
                </c:pt>
                <c:pt idx="2">
                  <c:v>Coffee</c:v>
                </c:pt>
                <c:pt idx="3">
                  <c:v>Coffee beans</c:v>
                </c:pt>
                <c:pt idx="4">
                  <c:v>Drinking Chocolate</c:v>
                </c:pt>
                <c:pt idx="5">
                  <c:v>Flavours</c:v>
                </c:pt>
                <c:pt idx="6">
                  <c:v>Loose Tea</c:v>
                </c:pt>
                <c:pt idx="7">
                  <c:v>Packaged Chocolate</c:v>
                </c:pt>
                <c:pt idx="8">
                  <c:v>Tea</c:v>
                </c:pt>
              </c:strCache>
            </c:strRef>
          </c:cat>
          <c:val>
            <c:numRef>
              <c:f>'Sales per product Top seilling '!$B$56:$B$65</c:f>
              <c:numCache>
                <c:formatCode>General</c:formatCode>
                <c:ptCount val="9"/>
                <c:pt idx="0">
                  <c:v>82315.640000000029</c:v>
                </c:pt>
                <c:pt idx="1">
                  <c:v>13607</c:v>
                </c:pt>
                <c:pt idx="2">
                  <c:v>269952.4500000191</c:v>
                </c:pt>
                <c:pt idx="3">
                  <c:v>40085.249999999985</c:v>
                </c:pt>
                <c:pt idx="4">
                  <c:v>72416</c:v>
                </c:pt>
                <c:pt idx="5">
                  <c:v>8408.8000000008742</c:v>
                </c:pt>
                <c:pt idx="6">
                  <c:v>11213.600000000089</c:v>
                </c:pt>
                <c:pt idx="7">
                  <c:v>4407.6399999999885</c:v>
                </c:pt>
                <c:pt idx="8">
                  <c:v>196405.95000000976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03CB-764A-BAE5-DAC9491CE7F7}"/>
            </c:ext>
          </c:extLst>
        </c:ser>
        <c:dLbls>
          <c:dLblPos val="inEnd"/>
          <c:showLegendKey val="0"/>
          <c:showVal val="0"/>
          <c:showCatName val="1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pivotSource>
    <c:name>[Bright_coffee_shop_Queries_Draft.xlsx]Quantity by Category Total tran!PivotTable25</c:name>
    <c:fmtId val="12"/>
  </c:pivotSource>
  <c:chart>
    <c:autoTitleDeleted val="1"/>
    <c:pivotFmts>
      <c:pivotFmt>
        <c:idx val="0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gradFill rotWithShape="1">
              <a:gsLst>
                <a:gs pos="0">
                  <a:schemeClr val="accent5">
                    <a:tint val="77000"/>
                    <a:satMod val="103000"/>
                    <a:lumMod val="102000"/>
                    <a:tint val="94000"/>
                  </a:schemeClr>
                </a:gs>
                <a:gs pos="50000">
                  <a:schemeClr val="accent5">
                    <a:tint val="77000"/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tint val="77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5">
                  <a:tint val="77000"/>
                </a:schemeClr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gradFill rotWithShape="1">
              <a:gsLst>
                <a:gs pos="0">
                  <a:schemeClr val="accent5">
                    <a:shade val="76000"/>
                    <a:satMod val="103000"/>
                    <a:lumMod val="102000"/>
                    <a:tint val="94000"/>
                  </a:schemeClr>
                </a:gs>
                <a:gs pos="50000">
                  <a:schemeClr val="accent5">
                    <a:shade val="76000"/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shade val="76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5">
                  <a:shade val="76000"/>
                </a:schemeClr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gradFill rotWithShape="1"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0637172930703249"/>
          <c:y val="4.7923322683706068E-2"/>
          <c:w val="0.87747557972779178"/>
          <c:h val="0.7804203667832255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'Quantity by Category Total tran'!$B$6</c:f>
              <c:strCache>
                <c:ptCount val="1"/>
                <c:pt idx="0">
                  <c:v>Sum of Revenue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shade val="76000"/>
                    <a:tint val="96000"/>
                    <a:lumMod val="104000"/>
                  </a:schemeClr>
                </a:gs>
                <a:gs pos="100000">
                  <a:schemeClr val="accent5">
                    <a:shade val="76000"/>
                    <a:shade val="90000"/>
                    <a:lumMod val="90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63500" dist="25400" dir="5400000" rotWithShape="0">
                <a:srgbClr val="000000">
                  <a:alpha val="60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'Quantity by Category Total tran'!$A$7:$A$16</c:f>
              <c:strCache>
                <c:ptCount val="9"/>
                <c:pt idx="0">
                  <c:v>Coffee</c:v>
                </c:pt>
                <c:pt idx="1">
                  <c:v>Tea</c:v>
                </c:pt>
                <c:pt idx="2">
                  <c:v>Bakery</c:v>
                </c:pt>
                <c:pt idx="3">
                  <c:v>Drinking Chocolate</c:v>
                </c:pt>
                <c:pt idx="4">
                  <c:v>Flavours</c:v>
                </c:pt>
                <c:pt idx="5">
                  <c:v>Coffee beans</c:v>
                </c:pt>
                <c:pt idx="6">
                  <c:v>Loose Tea</c:v>
                </c:pt>
                <c:pt idx="7">
                  <c:v>Branded</c:v>
                </c:pt>
                <c:pt idx="8">
                  <c:v>Packaged Chocolate</c:v>
                </c:pt>
              </c:strCache>
            </c:strRef>
          </c:cat>
          <c:val>
            <c:numRef>
              <c:f>'Quantity by Category Total tran'!$B$7:$B$16</c:f>
              <c:numCache>
                <c:formatCode>"R"#\ ##0.00</c:formatCode>
                <c:ptCount val="9"/>
                <c:pt idx="0">
                  <c:v>269952.4500000191</c:v>
                </c:pt>
                <c:pt idx="1">
                  <c:v>196405.95000000976</c:v>
                </c:pt>
                <c:pt idx="2">
                  <c:v>82315.640000000029</c:v>
                </c:pt>
                <c:pt idx="3">
                  <c:v>72416</c:v>
                </c:pt>
                <c:pt idx="4">
                  <c:v>8408.8000000008742</c:v>
                </c:pt>
                <c:pt idx="5">
                  <c:v>40085.249999999985</c:v>
                </c:pt>
                <c:pt idx="6">
                  <c:v>11213.600000000089</c:v>
                </c:pt>
                <c:pt idx="7">
                  <c:v>13607</c:v>
                </c:pt>
                <c:pt idx="8">
                  <c:v>4407.6399999999885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AE0-8941-B8B2-CE458EFF486C}"/>
            </c:ext>
          </c:extLst>
        </c:ser>
        <c:ser>
          <c:idx val="1"/>
          <c:order val="1"/>
          <c:tx>
            <c:strRef>
              <c:f>'Quantity by Category Total tran'!$C$6</c:f>
              <c:strCache>
                <c:ptCount val="1"/>
                <c:pt idx="0">
                  <c:v>Sum of transaction_qty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tint val="77000"/>
                    <a:tint val="96000"/>
                    <a:lumMod val="104000"/>
                  </a:schemeClr>
                </a:gs>
                <a:gs pos="100000">
                  <a:schemeClr val="accent5">
                    <a:tint val="77000"/>
                    <a:shade val="90000"/>
                    <a:lumMod val="90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63500" dist="25400" dir="5400000" rotWithShape="0">
                <a:srgbClr val="000000">
                  <a:alpha val="60000"/>
                </a:srgbClr>
              </a:outerShdw>
            </a:effectLst>
          </c:spPr>
          <c:invertIfNegative val="0"/>
          <c:dLbls>
            <c:dLbl>
              <c:idx val="4"/>
              <c:layout>
                <c:manualLayout>
                  <c:x val="9.7337008891198364E-3"/>
                  <c:y val="2.234189895937767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FAE0-8941-B8B2-CE458EFF486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'Quantity by Category Total tran'!$A$7:$A$16</c:f>
              <c:strCache>
                <c:ptCount val="9"/>
                <c:pt idx="0">
                  <c:v>Coffee</c:v>
                </c:pt>
                <c:pt idx="1">
                  <c:v>Tea</c:v>
                </c:pt>
                <c:pt idx="2">
                  <c:v>Bakery</c:v>
                </c:pt>
                <c:pt idx="3">
                  <c:v>Drinking Chocolate</c:v>
                </c:pt>
                <c:pt idx="4">
                  <c:v>Flavours</c:v>
                </c:pt>
                <c:pt idx="5">
                  <c:v>Coffee beans</c:v>
                </c:pt>
                <c:pt idx="6">
                  <c:v>Loose Tea</c:v>
                </c:pt>
                <c:pt idx="7">
                  <c:v>Branded</c:v>
                </c:pt>
                <c:pt idx="8">
                  <c:v>Packaged Chocolate</c:v>
                </c:pt>
              </c:strCache>
            </c:strRef>
          </c:cat>
          <c:val>
            <c:numRef>
              <c:f>'Quantity by Category Total tran'!$C$7:$C$16</c:f>
              <c:numCache>
                <c:formatCode>General</c:formatCode>
                <c:ptCount val="9"/>
                <c:pt idx="0">
                  <c:v>89250</c:v>
                </c:pt>
                <c:pt idx="1">
                  <c:v>69737</c:v>
                </c:pt>
                <c:pt idx="2">
                  <c:v>23214</c:v>
                </c:pt>
                <c:pt idx="3">
                  <c:v>17457</c:v>
                </c:pt>
                <c:pt idx="4">
                  <c:v>10511</c:v>
                </c:pt>
                <c:pt idx="5">
                  <c:v>1828</c:v>
                </c:pt>
                <c:pt idx="6">
                  <c:v>1210</c:v>
                </c:pt>
                <c:pt idx="7">
                  <c:v>776</c:v>
                </c:pt>
                <c:pt idx="8">
                  <c:v>487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AE0-8941-B8B2-CE458EFF486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397523391"/>
        <c:axId val="335389439"/>
      </c:barChart>
      <c:catAx>
        <c:axId val="39752339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35389439"/>
        <c:crosses val="autoZero"/>
        <c:auto val="1"/>
        <c:lblAlgn val="ctr"/>
        <c:lblOffset val="100"/>
        <c:noMultiLvlLbl val="0"/>
      </c:catAx>
      <c:valAx>
        <c:axId val="33538943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R&quot;#\ 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9752339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4379319208810238"/>
          <c:y val="0.94368971849764782"/>
          <c:w val="0.44656425034499547"/>
          <c:h val="5.628608923884514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[Bright_coffee_shop_Queries_Draft.xlsx]Sales by Weekdays !PivotTable33</c:name>
    <c:fmtId val="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Sales by Weekday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5">
              <a:lumMod val="20000"/>
              <a:lumOff val="8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5">
              <a:lumMod val="20000"/>
              <a:lumOff val="8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5">
              <a:lumMod val="20000"/>
              <a:lumOff val="8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'Sales by Weekdays '!$B$3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96000"/>
                    <a:lumMod val="104000"/>
                  </a:schemeClr>
                </a:gs>
                <a:gs pos="100000">
                  <a:schemeClr val="accent1">
                    <a:shade val="90000"/>
                    <a:lumMod val="90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63500" dist="25400" dir="5400000" rotWithShape="0">
                <a:srgbClr val="000000">
                  <a:alpha val="60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'Sales by Weekdays '!$A$4:$A$11</c:f>
              <c:strCache>
                <c:ptCount val="7"/>
                <c:pt idx="0">
                  <c:v>Sun</c:v>
                </c:pt>
                <c:pt idx="1">
                  <c:v>Mon</c:v>
                </c:pt>
                <c:pt idx="2">
                  <c:v>Tue</c:v>
                </c:pt>
                <c:pt idx="3">
                  <c:v>Wed</c:v>
                </c:pt>
                <c:pt idx="4">
                  <c:v>Thu</c:v>
                </c:pt>
                <c:pt idx="5">
                  <c:v>Fri</c:v>
                </c:pt>
                <c:pt idx="6">
                  <c:v>Sat</c:v>
                </c:pt>
              </c:strCache>
            </c:strRef>
          </c:cat>
          <c:val>
            <c:numRef>
              <c:f>'Sales by Weekdays '!$B$4:$B$11</c:f>
              <c:numCache>
                <c:formatCode>General</c:formatCode>
                <c:ptCount val="7"/>
                <c:pt idx="0">
                  <c:v>98330.309999999808</c:v>
                </c:pt>
                <c:pt idx="1">
                  <c:v>101677.27999999988</c:v>
                </c:pt>
                <c:pt idx="2">
                  <c:v>99455.939999999944</c:v>
                </c:pt>
                <c:pt idx="3">
                  <c:v>100313.54000000046</c:v>
                </c:pt>
                <c:pt idx="4">
                  <c:v>100767.77999999965</c:v>
                </c:pt>
                <c:pt idx="5">
                  <c:v>101373.0000000002</c:v>
                </c:pt>
                <c:pt idx="6">
                  <c:v>96894.48000000036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90B-C340-820E-C0D54896730A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624511167"/>
        <c:axId val="624515199"/>
      </c:barChart>
      <c:catAx>
        <c:axId val="6245111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24515199"/>
        <c:crosses val="autoZero"/>
        <c:auto val="1"/>
        <c:lblAlgn val="ctr"/>
        <c:lblOffset val="100"/>
        <c:noMultiLvlLbl val="0"/>
      </c:catAx>
      <c:valAx>
        <c:axId val="6245151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2451116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acrossLinear" id="2">
  <a:schemeClr val="accent1"/>
  <a:schemeClr val="accent2"/>
  <a:schemeClr val="accent3"/>
  <a:schemeClr val="accent4"/>
  <a:schemeClr val="accent5"/>
  <a:schemeClr val="accent6"/>
</cs:colorStyle>
</file>

<file path=ppt/charts/colors6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33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tx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68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tx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29">
  <cs:axisTitle>
    <cs:lnRef idx="0"/>
    <cs:fillRef idx="0"/>
    <cs:effectRef idx="0"/>
    <cs:fontRef idx="minor">
      <a:schemeClr val="lt1"/>
    </cs:fontRef>
    <cs:defRPr sz="900" b="1" kern="1200"/>
  </cs:axisTitle>
  <cs:categoryAxis>
    <cs:lnRef idx="0">
      <cs:styleClr val="0"/>
    </cs:lnRef>
    <cs:fillRef idx="0"/>
    <cs:effectRef idx="0"/>
    <cs:fontRef idx="minor">
      <a:schemeClr val="lt1"/>
    </cs:fontRef>
    <cs:spPr>
      <a:ln w="12700" cap="flat" cmpd="sng" algn="ctr">
        <a:solidFill>
          <a:schemeClr val="lt1"/>
        </a:solidFill>
        <a:round/>
      </a:ln>
    </cs:spPr>
    <cs:defRPr sz="900" kern="1200" spc="100" baseline="0"/>
  </cs:categoryAxis>
  <cs:chartArea>
    <cs:lnRef idx="0">
      <cs:styleClr val="0"/>
    </cs:lnRef>
    <cs:fillRef idx="0">
      <cs:styleClr val="0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  <cs:defRPr sz="1000" kern="1200"/>
  </cs:chartArea>
  <cs:dataLabel>
    <cs:lnRef idx="0"/>
    <cs:fillRef idx="0"/>
    <cs:effectRef idx="0"/>
    <cs:fontRef idx="minor">
      <a:schemeClr val="lt1"/>
    </cs:fontRef>
    <cs:defRPr sz="900" b="1" kern="120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lt1"/>
        </a:bgClr>
      </a:patt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lt1"/>
        </a:bgClr>
      </a:pattFill>
    </cs:spPr>
  </cs:dataPoint3D>
  <cs:dataPointLine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34925" cap="rnd">
        <a:solidFill>
          <a:schemeClr val="lt1"/>
        </a:solidFill>
        <a:round/>
      </a:ln>
      <a:effectLst>
        <a:outerShdw dist="25400" dir="2700000" algn="tl" rotWithShape="0">
          <a:schemeClr val="phClr"/>
        </a:outerShdw>
      </a:effectLst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22225">
        <a:solidFill>
          <a:schemeClr val="lt1"/>
        </a:solidFill>
        <a:round/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>
      <cs:styleClr val="0"/>
    </cs:lnRef>
    <cs:fillRef idx="0"/>
    <cs:effectRef idx="0"/>
    <cs:fontRef idx="minor">
      <a:schemeClr val="lt1"/>
    </cs:fontRef>
    <cs:spPr>
      <a:ln w="9525">
        <a:solidFill>
          <a:schemeClr val="phClr">
            <a:lumMod val="60000"/>
            <a:lumOff val="40000"/>
          </a:schemeClr>
        </a:solidFill>
      </a:ln>
    </cs:spPr>
    <cs:defRPr sz="900" kern="1200"/>
  </cs:dataTable>
  <cs:downBar>
    <cs:lnRef idx="0">
      <cs:styleClr val="0"/>
    </cs:lnRef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0">
              <a:schemeClr val="lt1"/>
            </a:gs>
            <a:gs pos="100000">
              <a:schemeClr val="lt1">
                <a:alpha val="0"/>
              </a:schemeClr>
            </a:gs>
          </a:gsLst>
          <a:lin ang="5400000" scaled="0"/>
        </a:gradFill>
        <a:round/>
      </a:ln>
    </cs:spPr>
  </cs:dropLine>
  <cs:errorBar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round/>
      </a:ln>
      <a:effectLst>
        <a:glow rad="25400">
          <a:schemeClr val="lt1"/>
        </a:glow>
      </a:effectLst>
    </cs:spPr>
  </cs:errorBar>
  <cs:floor>
    <cs:lnRef idx="0"/>
    <cs:fillRef idx="0"/>
    <cs:effectRef idx="0"/>
    <cs:fontRef idx="minor">
      <a:schemeClr val="dk1"/>
    </cs:fontRef>
  </cs:floor>
  <cs:gridlineMajor>
    <cs:lnRef idx="0">
      <cs:styleClr val="0"/>
    </cs:lnRef>
    <cs:fillRef idx="0"/>
    <cs:effectRef idx="0"/>
    <cs:fontRef idx="minor">
      <a:schemeClr val="dk1"/>
    </cs:fontRef>
    <cs:spPr>
      <a:ln w="9525" cap="flat" cmpd="sng" algn="ctr">
        <a:solidFill>
          <a:schemeClr val="lt1">
            <a:alpha val="25000"/>
          </a:schemeClr>
        </a:solidFill>
        <a:round/>
      </a:ln>
    </cs:spPr>
  </cs:gridlineMajor>
  <cs:gridlineMinor>
    <cs:lnRef idx="0">
      <cs:styleClr val="0"/>
    </cs:lnRef>
    <cs:fillRef idx="0"/>
    <cs:effectRef idx="0"/>
    <cs:fontRef idx="minor">
      <a:schemeClr val="dk1"/>
    </cs:fontRef>
    <cs:spPr>
      <a:ln>
        <a:solidFill>
          <a:schemeClr val="lt1">
            <a:alpha val="10000"/>
          </a:schemeClr>
        </a:solidFill>
      </a:ln>
    </cs:spPr>
  </cs:gridlineMinor>
  <cs:hiLo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prstDash val="dash"/>
      </a:ln>
    </cs:spPr>
  </cs:hiLoLine>
  <cs:leader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</a:ln>
    </cs:spPr>
  </cs:leaderLine>
  <cs:legend>
    <cs:lnRef idx="0"/>
    <cs:fillRef idx="0"/>
    <cs:effectRef idx="0"/>
    <cs:fontRef idx="minor">
      <a:schemeClr val="lt1"/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>
      <cs:styleClr val="0"/>
    </cs:lnRef>
    <cs:fillRef idx="0"/>
    <cs:effectRef idx="0"/>
    <cs:fontRef idx="minor">
      <a:schemeClr val="lt1"/>
    </cs:fontRef>
    <cs:spPr>
      <a:ln w="3175" cap="flat" cmpd="sng" algn="ctr">
        <a:solidFill>
          <a:schemeClr val="phClr">
            <a:lumMod val="60000"/>
            <a:lumOff val="40000"/>
          </a:schemeClr>
        </a:solidFill>
        <a:round/>
      </a:ln>
    </cs:spPr>
    <cs:defRPr sz="900" kern="1200"/>
  </cs:seriesAxis>
  <cs:series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  <a:tint val="5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lt1"/>
    </cs:fontRef>
    <cs:defRPr sz="1500" b="1" kern="1200" cap="all" spc="100" normalizeH="0" baseline="0"/>
  </cs:title>
  <cs:trendline>
    <cs:lnRef idx="0"/>
    <cs:fillRef idx="0"/>
    <cs:effectRef idx="0"/>
    <cs:fontRef idx="minor">
      <a:schemeClr val="dk1"/>
    </cs:fontRef>
    <cs:spPr>
      <a:ln w="28575" cap="rnd">
        <a:solidFill>
          <a:schemeClr val="lt1">
            <a:alpha val="50000"/>
          </a:schemeClr>
        </a:solidFill>
        <a:round/>
      </a:ln>
    </cs:spPr>
  </cs:trendline>
  <cs:trendlineLabel>
    <cs:lnRef idx="0"/>
    <cs:fillRef idx="0"/>
    <cs:effectRef idx="0"/>
    <cs:fontRef idx="minor">
      <a:schemeClr val="lt1"/>
    </cs:fontRef>
    <cs:defRPr sz="900" kern="1200"/>
  </cs:trendlineLabel>
  <cs:upBar>
    <cs:lnRef idx="0">
      <cs:styleClr val="0"/>
    </cs:lnRef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upBar>
  <cs:valueAxis>
    <cs:lnRef idx="0"/>
    <cs:fillRef idx="0"/>
    <cs:effectRef idx="0"/>
    <cs:fontRef idx="minor">
      <a:schemeClr val="lt1"/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22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ize="5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tx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charts/style9.xml><?xml version="1.0" encoding="utf-8"?>
<cs:chartStyle xmlns:cs="http://schemas.microsoft.com/office/drawing/2012/chartStyle" xmlns:a="http://schemas.openxmlformats.org/drawingml/2006/main" id="263">
  <cs:axisTitle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587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>
      <cs:styleClr val="auto"/>
    </cs:lnRef>
    <cs:fillRef idx="0"/>
    <cs:effectRef idx="0">
      <cs:styleClr val="auto"/>
    </cs:effectRef>
    <cs:fontRef idx="minor">
      <cs:styleClr val="auto"/>
    </cs:fontRef>
    <cs:spPr>
      <a:solidFill>
        <a:schemeClr val="lt1">
          <a:alpha val="90000"/>
        </a:schemeClr>
      </a:solidFill>
      <a:ln w="12700" cap="flat" cmpd="sng" algn="ctr">
        <a:solidFill>
          <a:schemeClr val="phClr"/>
        </a:solidFill>
        <a:round/>
      </a:ln>
      <a:effectLst>
        <a:outerShdw blurRad="50800" dist="38100" dir="2700000" algn="tl" rotWithShape="0">
          <a:schemeClr val="phClr">
            <a:lumMod val="75000"/>
            <a:alpha val="40000"/>
          </a:schemeClr>
        </a:outerShdw>
      </a:effectLst>
    </cs:spPr>
    <cs:defRPr sz="1000" b="0" i="0" u="none" strike="noStrike" kern="1200" baseline="0">
      <a:effectLst/>
    </cs:defRPr>
    <cs:bodyPr rot="0" spcFirstLastPara="1" vertOverflow="clip" horzOverflow="clip" vert="horz" wrap="square" lIns="38100" tIns="19050" rIns="38100" bIns="19050" anchor="ctr" anchorCtr="1">
      <a:spAutoFit/>
    </cs:bodyPr>
  </cs:dataLabel>
  <cs:dataLabelCallout>
    <cs:lnRef idx="0">
      <cs:styleClr val="auto"/>
    </cs:lnRef>
    <cs:fillRef idx="0"/>
    <cs:effectRef idx="0">
      <cs:styleClr val="auto"/>
    </cs:effectRef>
    <cs:fontRef idx="minor">
      <cs:styleClr val="auto"/>
    </cs:fontRef>
    <cs:spPr>
      <a:solidFill>
        <a:schemeClr val="lt1">
          <a:alpha val="90000"/>
        </a:schemeClr>
      </a:solidFill>
      <a:ln w="12700" cap="flat" cmpd="sng" algn="ctr">
        <a:solidFill>
          <a:schemeClr val="phClr"/>
        </a:solidFill>
        <a:round/>
      </a:ln>
      <a:effectLst>
        <a:outerShdw blurRad="50800" dist="38100" dir="2700000" algn="tl" rotWithShape="0">
          <a:schemeClr val="phClr">
            <a:lumMod val="75000"/>
            <a:alpha val="40000"/>
          </a:schemeClr>
        </a:outerShdw>
      </a:effectLst>
    </cs:spPr>
    <cs:defRPr sz="1000" b="0" i="0" u="none" strike="noStrike" kern="1200" baseline="0">
      <a:effectLst/>
    </cs:defRPr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>
          <a:alpha val="70000"/>
        </a:schemeClr>
      </a:solidFill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tx1"/>
    </cs:fontRef>
    <cs:spPr>
      <a:solidFill>
        <a:schemeClr val="phClr">
          <a:alpha val="90000"/>
        </a:schemeClr>
      </a:solidFill>
      <a:ln w="19050">
        <a:solidFill>
          <a:schemeClr val="phClr">
            <a:lumMod val="75000"/>
          </a:schemeClr>
        </a:solidFill>
      </a:ln>
      <a:effectLst>
        <a:innerShdw blurRad="114300">
          <a:schemeClr val="phClr">
            <a:lumMod val="75000"/>
          </a:schemeClr>
        </a:innerShdw>
      </a:effectLst>
      <a:scene3d>
        <a:camera prst="orthographicFront"/>
        <a:lightRig rig="threePt" dir="t"/>
      </a:scene3d>
      <a:sp3d contourW="19050" prstMaterial="flat">
        <a:contourClr>
          <a:schemeClr val="accent4">
            <a:lumMod val="75000"/>
          </a:schemeClr>
        </a:contourClr>
      </a:sp3d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00" b="1" kern="1200" cap="all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587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10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charts/style11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0.61037</cdr:x>
      <cdr:y>0.28036</cdr:y>
    </cdr:from>
    <cdr:to>
      <cdr:x>0.80617</cdr:x>
      <cdr:y>0.63675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D680FE9B-B095-A07B-2CDC-B5BB3A76E816}"/>
            </a:ext>
          </a:extLst>
        </cdr:cNvPr>
        <cdr:cNvSpPr txBox="1"/>
      </cdr:nvSpPr>
      <cdr:spPr>
        <a:xfrm xmlns:a="http://schemas.openxmlformats.org/drawingml/2006/main">
          <a:off x="2850597" y="719330"/>
          <a:ext cx="914400" cy="9144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endParaRPr lang="en-US" sz="1100" kern="1200" dirty="0"/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698C0E1-628D-4A29-932B-81EFC1D54B0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4E1657-5A73-426A-A66E-C4F85559BEA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80B55D-A28C-4981-AA30-62D8B2215F35}" type="datetimeFigureOut">
              <a:rPr lang="en-US" smtClean="0"/>
              <a:t>3/28/26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BF12EE-0BCA-4112-A66D-A1C7DDACEE3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59303C-1C5B-4166-91D0-954E1FF8A25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21B084-08CE-4CE2-A230-03FB2D2096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96255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3E07F7-7765-40B0-95C6-6F0178FC4D78}" type="datetimeFigureOut">
              <a:rPr lang="en-US" smtClean="0"/>
              <a:t>3/28/26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4B07EB-3CEE-4B2A-A06F-03C965D4E9F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6297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BFE780-4B97-4708-B97F-94D8ADC6D79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66739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A2C35-3FF9-6DAB-68F9-0E90173AF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7305E8-EE72-115A-5123-6BB99A9CE6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A1DEC5-5DE0-0C02-4C7B-A8122A7EB7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7A0309-E04D-0DFB-7DA8-2DA5391DB8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8C22AF-75C7-433B-B852-69970FBFF62D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05449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8C22AF-75C7-433B-B852-69970FBFF62D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55270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1CB61-0F75-93ED-235B-5F100EF2E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558810-400C-7182-7099-4176D228D2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1C38A0-22EB-54C0-7AE7-1E3A553096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180DC5-8D49-FE14-0D58-96AB1ECEAB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6D7BE9-6C4F-48E9-816E-E7C44694421A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21007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91B99-8DCE-A2AE-22CB-7BFF37667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311779-1D40-AB4B-5A48-FD95CC3223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84EF6C-9C4F-DA89-0C9F-828121F785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6A7737-1862-B258-7D7B-C485FAF766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6D7BE9-6C4F-48E9-816E-E7C44694421A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42178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6D7BE9-6C4F-48E9-816E-E7C44694421A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37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B76F7-0E4B-208E-8404-08AFBFB17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5CE5E9-1B6A-61DE-C7B2-C6BA0196F3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2A986A-1B0E-7898-A869-2BDF6A19EA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7BFA64-8610-208E-48F0-10118F2D4C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6D7BE9-6C4F-48E9-816E-E7C44694421A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25401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FE687-C324-0591-1758-5635150E5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A6FAEC-0442-91B2-72DD-D32943C869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BEF61B-FAEE-A24A-F7F8-5916AFD088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816995-9532-0BCC-808D-995561FB92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6D7BE9-6C4F-48E9-816E-E7C44694421A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15265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6D7BE9-6C4F-48E9-816E-E7C44694421A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92680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DE5B64-68E9-C26E-8942-8CA66096A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918B9C-7084-0D47-4409-B592BA2695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F01384-487D-B51E-D73F-0AEDD20CF2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1A674F-AE18-8028-597E-9BB9EE06EA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6D7BE9-6C4F-48E9-816E-E7C44694421A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39617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02FF7-DBF0-0C5E-B36F-410BB8B61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F2EA0D-7366-DF0A-8C18-03192306E4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A1DB75-96AC-EAFF-5AC6-2E84E4C3E0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B6C090-D872-45CA-0397-6D00A1DBED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6D7BE9-6C4F-48E9-816E-E7C44694421A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13361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958888C-33C4-45BB-9053-0F238EBC250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 useBgFill="1">
        <p:nvSpPr>
          <p:cNvPr id="10" name="Title 1">
            <a:extLst>
              <a:ext uri="{FF2B5EF4-FFF2-40B4-BE49-F238E27FC236}">
                <a16:creationId xmlns:a16="http://schemas.microsoft.com/office/drawing/2014/main" id="{E234E1C5-BD1C-4142-BA62-2A1D902B60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63430" y="1762887"/>
            <a:ext cx="7665140" cy="2140251"/>
          </a:xfrm>
        </p:spPr>
        <p:txBody>
          <a:bodyPr tIns="365760" anchor="ctr">
            <a:normAutofit/>
          </a:bodyPr>
          <a:lstStyle>
            <a:lvl1pPr algn="ctr">
              <a:defRPr sz="5400"/>
            </a:lvl1pPr>
          </a:lstStyle>
          <a:p>
            <a:r>
              <a:rPr lang="en-GB" sz="4800"/>
              <a:t>Click to edit Master title style</a:t>
            </a:r>
            <a:endParaRPr lang="en-US" sz="4800" dirty="0"/>
          </a:p>
        </p:txBody>
      </p:sp>
      <p:sp useBgFill="1">
        <p:nvSpPr>
          <p:cNvPr id="12" name="Subtitle 2" descr="Tag=AccentColor&#10;Flavor=Light&#10;Target=Text">
            <a:extLst>
              <a:ext uri="{FF2B5EF4-FFF2-40B4-BE49-F238E27FC236}">
                <a16:creationId xmlns:a16="http://schemas.microsoft.com/office/drawing/2014/main" id="{DED57426-1707-4704-8E09-2F76090515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63430" y="3903138"/>
            <a:ext cx="7665139" cy="119197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0301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B2FCC-99C4-4C2B-99B4-9C5E13D53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0975" y="782122"/>
            <a:ext cx="3619500" cy="2492828"/>
          </a:xfrm>
        </p:spPr>
        <p:txBody>
          <a:bodyPr anchor="b"/>
          <a:lstStyle>
            <a:lvl1pPr algn="l">
              <a:spcBef>
                <a:spcPts val="960"/>
              </a:spcBef>
              <a:spcAft>
                <a:spcPts val="600"/>
              </a:spcAft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958888C-33C4-45BB-9053-0F238EBC250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4740" y="0"/>
            <a:ext cx="3754712" cy="2675444"/>
          </a:xfrm>
          <a:ln>
            <a:noFill/>
          </a:ln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B5F49914-A317-424F-9214-203370D7674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749972" y="0"/>
            <a:ext cx="3793815" cy="2675444"/>
          </a:xfrm>
          <a:ln>
            <a:noFill/>
          </a:ln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0" name="Picture Placeholder 10">
            <a:extLst>
              <a:ext uri="{FF2B5EF4-FFF2-40B4-BE49-F238E27FC236}">
                <a16:creationId xmlns:a16="http://schemas.microsoft.com/office/drawing/2014/main" id="{B68EE34D-80C0-4CEE-99D1-3C91F6626DF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4740" y="2675444"/>
            <a:ext cx="7543904" cy="4182556"/>
          </a:xfrm>
          <a:ln>
            <a:noFill/>
          </a:ln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25E34894-A499-4CC3-9F3E-BB0B1268C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95" y="6000749"/>
            <a:ext cx="667286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6F37D4A7-7BA4-4331-82C1-818D1B5B05B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042275" y="3592286"/>
            <a:ext cx="3619500" cy="199231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1879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3335" y="1233378"/>
            <a:ext cx="5697102" cy="1405366"/>
          </a:xfrm>
        </p:spPr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3795" y="3002281"/>
            <a:ext cx="5686437" cy="2271393"/>
          </a:xfrm>
        </p:spPr>
        <p:txBody>
          <a:bodyPr anchor="t">
            <a:normAutofit/>
          </a:bodyPr>
          <a:lstStyle>
            <a:lvl1pPr marL="0" indent="0" algn="ctr">
              <a:buNone/>
              <a:defRPr lang="en-US" sz="20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Calibri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93FCD85-64A9-4257-8703-568A1629E13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96864" y="0"/>
            <a:ext cx="4572000" cy="6858000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A47AB1B-8039-41F6-A255-B03F33FB63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01468" y="1"/>
            <a:ext cx="4690532" cy="6858000"/>
          </a:xfrm>
          <a:prstGeom prst="rect">
            <a:avLst/>
          </a:prstGeom>
        </p:spPr>
      </p:pic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FBC8FC98-420D-47E9-A6BF-65337349F5D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6" y="6000749"/>
            <a:ext cx="2743200" cy="36512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16EE41C-5E1E-448A-AC09-A8C32B4A8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00749"/>
            <a:ext cx="753545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973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0693" y="4913529"/>
            <a:ext cx="9440034" cy="68069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29CC1453-4E18-4960-B6D5-529F625B9A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0693" y="5713343"/>
            <a:ext cx="9440034" cy="436942"/>
          </a:xfrm>
        </p:spPr>
        <p:txBody>
          <a:bodyPr/>
          <a:lstStyle>
            <a:lvl1pPr marL="36900" indent="0" algn="ctr">
              <a:buNone/>
              <a:defRPr/>
            </a:lvl1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ADDA07CD-6F66-4875-B1ED-5D11B9642B3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2938" y="642938"/>
            <a:ext cx="5130800" cy="3303587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E1CB1643-335F-4FF9-8A42-C5652761302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417733" y="642937"/>
            <a:ext cx="5130800" cy="3303587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4843549-5E1B-48B7-A510-6245884107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0"/>
            <a:ext cx="12192001" cy="4322278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3B5FF67-7EEC-4AB0-8445-132F999228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6096000" y="1609536"/>
            <a:ext cx="0" cy="1371600"/>
          </a:xfrm>
          <a:prstGeom prst="line">
            <a:avLst/>
          </a:prstGeom>
          <a:ln w="19050">
            <a:solidFill>
              <a:schemeClr val="tx1">
                <a:lumMod val="75000"/>
              </a:schemeClr>
            </a:solidFill>
          </a:ln>
          <a:effectLst>
            <a:innerShdw blurRad="114300">
              <a:prstClr val="black"/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3172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hart, table, 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2902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6754A53-50F5-4BFC-9D4B-69FF19B576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01468" y="1"/>
            <a:ext cx="469053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EE3AA4C-F452-4742-B62F-D92ACEB05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948" y="1233378"/>
            <a:ext cx="5441285" cy="2911902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C4A6F582-B177-429F-8965-8FC2335DBC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8948" y="4495800"/>
            <a:ext cx="5441286" cy="777874"/>
          </a:xfrm>
        </p:spPr>
        <p:txBody>
          <a:bodyPr/>
          <a:lstStyle>
            <a:lvl1pPr marL="36900" indent="0" algn="ctr">
              <a:buNone/>
              <a:defRPr/>
            </a:lvl1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708956-7306-4C30-B1DF-68E2666A2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96" y="6000749"/>
            <a:ext cx="5686438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F5FA9922-F4B7-458A-B446-58C5673A30D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848600" y="642938"/>
            <a:ext cx="3700463" cy="2625725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8" name="Picture Placeholder 16">
            <a:extLst>
              <a:ext uri="{FF2B5EF4-FFF2-40B4-BE49-F238E27FC236}">
                <a16:creationId xmlns:a16="http://schemas.microsoft.com/office/drawing/2014/main" id="{A931B751-CD27-4E96-B65A-1D983D26503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848600" y="3600901"/>
            <a:ext cx="3700463" cy="2625725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7807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9B87676-021D-46A4-8D5E-AAB45A5F2E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60053" y="2057400"/>
            <a:ext cx="2359477" cy="2743200"/>
          </a:xfrm>
          <a:prstGeom prst="rect">
            <a:avLst/>
          </a:prstGeom>
          <a:solidFill>
            <a:schemeClr val="tx1"/>
          </a:solidFill>
          <a:ln w="190500">
            <a:solidFill>
              <a:schemeClr val="tx1">
                <a:alpha val="7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3E2461C8-280B-42BE-8793-5F1B2C4C0A3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3796" y="2327275"/>
            <a:ext cx="1827818" cy="2181225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256D654-5693-4897-AD58-F42CEECEC0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452764" y="2057400"/>
            <a:ext cx="2359477" cy="2743200"/>
          </a:xfrm>
          <a:prstGeom prst="rect">
            <a:avLst/>
          </a:prstGeom>
          <a:solidFill>
            <a:schemeClr val="tx1"/>
          </a:solidFill>
          <a:ln w="190500">
            <a:solidFill>
              <a:schemeClr val="tx1">
                <a:alpha val="7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E7D5C18-F020-4168-9A98-D4162006A8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245475" y="2057400"/>
            <a:ext cx="2359477" cy="2743200"/>
          </a:xfrm>
          <a:prstGeom prst="rect">
            <a:avLst/>
          </a:prstGeom>
          <a:solidFill>
            <a:schemeClr val="tx1"/>
          </a:solidFill>
          <a:ln w="190500">
            <a:solidFill>
              <a:schemeClr val="tx1">
                <a:alpha val="7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19BC3A-55C2-47AD-93E5-368070939B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8186" y="2043502"/>
            <a:ext cx="2359477" cy="2743200"/>
          </a:xfrm>
          <a:prstGeom prst="rect">
            <a:avLst/>
          </a:prstGeom>
          <a:solidFill>
            <a:schemeClr val="tx1"/>
          </a:solidFill>
          <a:ln w="190500">
            <a:solidFill>
              <a:schemeClr val="tx1">
                <a:alpha val="7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Picture Placeholder 31">
            <a:extLst>
              <a:ext uri="{FF2B5EF4-FFF2-40B4-BE49-F238E27FC236}">
                <a16:creationId xmlns:a16="http://schemas.microsoft.com/office/drawing/2014/main" id="{E249A1C0-506E-4C49-A763-DA0BF00B5AF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718593" y="2327275"/>
            <a:ext cx="1827818" cy="2181225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34" name="Picture Placeholder 31">
            <a:extLst>
              <a:ext uri="{FF2B5EF4-FFF2-40B4-BE49-F238E27FC236}">
                <a16:creationId xmlns:a16="http://schemas.microsoft.com/office/drawing/2014/main" id="{C9B12B3E-6E6A-4B9F-BCDC-ABAB3007AE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511305" y="2327275"/>
            <a:ext cx="1827818" cy="2181225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35" name="Picture Placeholder 31">
            <a:extLst>
              <a:ext uri="{FF2B5EF4-FFF2-40B4-BE49-F238E27FC236}">
                <a16:creationId xmlns:a16="http://schemas.microsoft.com/office/drawing/2014/main" id="{961CEF8D-8303-439E-BDF8-3983FAE33E1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304015" y="2327275"/>
            <a:ext cx="1827818" cy="2181225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4BDD0E13-DDEB-44F9-8676-F7040501587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0054" y="5017734"/>
            <a:ext cx="2359476" cy="350292"/>
          </a:xfrm>
        </p:spPr>
        <p:txBody>
          <a:bodyPr>
            <a:normAutofit/>
          </a:bodyPr>
          <a:lstStyle>
            <a:lvl1pPr marL="36900" indent="0" algn="ctr">
              <a:buNone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7" name="Text Placeholder 27">
            <a:extLst>
              <a:ext uri="{FF2B5EF4-FFF2-40B4-BE49-F238E27FC236}">
                <a16:creationId xmlns:a16="http://schemas.microsoft.com/office/drawing/2014/main" id="{51948158-9C97-4517-B0D3-4085249937A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0054" y="5352052"/>
            <a:ext cx="2359476" cy="350292"/>
          </a:xfrm>
        </p:spPr>
        <p:txBody>
          <a:bodyPr>
            <a:noAutofit/>
          </a:bodyPr>
          <a:lstStyle>
            <a:lvl1pPr marL="36900" indent="0" algn="ctr">
              <a:buNone/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8" name="Text Placeholder 27">
            <a:extLst>
              <a:ext uri="{FF2B5EF4-FFF2-40B4-BE49-F238E27FC236}">
                <a16:creationId xmlns:a16="http://schemas.microsoft.com/office/drawing/2014/main" id="{CA53CE84-6890-4263-ABB8-F39819C6A43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452764" y="5017734"/>
            <a:ext cx="2359476" cy="350292"/>
          </a:xfrm>
        </p:spPr>
        <p:txBody>
          <a:bodyPr>
            <a:normAutofit/>
          </a:bodyPr>
          <a:lstStyle>
            <a:lvl1pPr marL="36900" indent="0" algn="ctr">
              <a:buNone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9" name="Text Placeholder 27">
            <a:extLst>
              <a:ext uri="{FF2B5EF4-FFF2-40B4-BE49-F238E27FC236}">
                <a16:creationId xmlns:a16="http://schemas.microsoft.com/office/drawing/2014/main" id="{2C891989-38F5-4F8A-AD02-DBBD0666D17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452764" y="5352052"/>
            <a:ext cx="2359476" cy="350292"/>
          </a:xfrm>
        </p:spPr>
        <p:txBody>
          <a:bodyPr>
            <a:noAutofit/>
          </a:bodyPr>
          <a:lstStyle>
            <a:lvl1pPr marL="36900" indent="0" algn="ctr">
              <a:buNone/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0" name="Text Placeholder 27">
            <a:extLst>
              <a:ext uri="{FF2B5EF4-FFF2-40B4-BE49-F238E27FC236}">
                <a16:creationId xmlns:a16="http://schemas.microsoft.com/office/drawing/2014/main" id="{470811B1-7881-44B2-88EA-0D7D0EE5CB0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245474" y="5017734"/>
            <a:ext cx="2359476" cy="350292"/>
          </a:xfrm>
        </p:spPr>
        <p:txBody>
          <a:bodyPr>
            <a:normAutofit/>
          </a:bodyPr>
          <a:lstStyle>
            <a:lvl1pPr marL="36900" indent="0" algn="ctr">
              <a:buNone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1" name="Text Placeholder 27">
            <a:extLst>
              <a:ext uri="{FF2B5EF4-FFF2-40B4-BE49-F238E27FC236}">
                <a16:creationId xmlns:a16="http://schemas.microsoft.com/office/drawing/2014/main" id="{42DCE357-186A-457C-951C-49B33EE59FB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245474" y="5352052"/>
            <a:ext cx="2359476" cy="350292"/>
          </a:xfrm>
        </p:spPr>
        <p:txBody>
          <a:bodyPr>
            <a:noAutofit/>
          </a:bodyPr>
          <a:lstStyle>
            <a:lvl1pPr marL="36900" indent="0" algn="ctr">
              <a:buNone/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2" name="Text Placeholder 27">
            <a:extLst>
              <a:ext uri="{FF2B5EF4-FFF2-40B4-BE49-F238E27FC236}">
                <a16:creationId xmlns:a16="http://schemas.microsoft.com/office/drawing/2014/main" id="{125640C8-2610-4EE2-B7DB-43B69762CA6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038184" y="5017734"/>
            <a:ext cx="2359476" cy="350292"/>
          </a:xfrm>
        </p:spPr>
        <p:txBody>
          <a:bodyPr>
            <a:normAutofit/>
          </a:bodyPr>
          <a:lstStyle>
            <a:lvl1pPr marL="36900" indent="0" algn="ctr">
              <a:buNone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3" name="Text Placeholder 27">
            <a:extLst>
              <a:ext uri="{FF2B5EF4-FFF2-40B4-BE49-F238E27FC236}">
                <a16:creationId xmlns:a16="http://schemas.microsoft.com/office/drawing/2014/main" id="{A681FDE6-437A-4435-B435-9E095137BA7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38184" y="5352052"/>
            <a:ext cx="2359476" cy="350292"/>
          </a:xfrm>
        </p:spPr>
        <p:txBody>
          <a:bodyPr>
            <a:noAutofit/>
          </a:bodyPr>
          <a:lstStyle>
            <a:lvl1pPr marL="36900" indent="0" algn="ctr">
              <a:buNone/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8009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 (comparison slid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37B721FF-D609-4D98-9D19-CF75AA8A54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73936BD-C868-433F-8E84-D6DD8E640E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928224A9-CB7A-4D21-8CA0-38125E298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68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37B721FF-D609-4D98-9D19-CF75AA8A54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040" y="1734506"/>
            <a:ext cx="3359592" cy="409995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73936BD-C868-433F-8E84-D6DD8E640E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6204" y="1734506"/>
            <a:ext cx="3359592" cy="4099959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1623" y="1855153"/>
            <a:ext cx="318294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1623" y="2702103"/>
            <a:ext cx="318294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9579" y="1855152"/>
            <a:ext cx="3192843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9579" y="2702103"/>
            <a:ext cx="3192842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CB356B5-0EDC-4245-8878-C19DA25A30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1904" y="1734506"/>
            <a:ext cx="3359592" cy="4099959"/>
          </a:xfrm>
          <a:prstGeom prst="rect">
            <a:avLst/>
          </a:prstGeom>
        </p:spPr>
      </p:pic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556C3DD2-AE94-4BA5-920E-A7EEE19296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035279" y="1855152"/>
            <a:ext cx="3192843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04BCB055-753B-4006-BF3C-73FC5A3C25D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35279" y="2702103"/>
            <a:ext cx="3192842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CE1D954F-2A50-4751-9E47-BB4B7BD61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621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2FDB9BCB-0C27-46E1-90C0-AADF00541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0649" y="1"/>
            <a:ext cx="4690532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69441" y="1233378"/>
            <a:ext cx="5898114" cy="1357422"/>
          </a:xfrm>
        </p:spPr>
        <p:txBody>
          <a:bodyPr anchor="b">
            <a:noAutofit/>
          </a:bodyPr>
          <a:lstStyle>
            <a:lvl1pPr algn="ctr">
              <a:defRPr lang="en-US" sz="40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Subtitle 2" descr="Tag=AccentColor&#10;Flavor=Light&#10;Target=Text">
            <a:extLst>
              <a:ext uri="{FF2B5EF4-FFF2-40B4-BE49-F238E27FC236}">
                <a16:creationId xmlns:a16="http://schemas.microsoft.com/office/drawing/2014/main" id="{61821B46-FA47-4BEB-A735-3A8E1161FD7A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5369440" y="2895601"/>
            <a:ext cx="5898115" cy="2378074"/>
          </a:xfrm>
        </p:spPr>
        <p:txBody>
          <a:bodyPr>
            <a:normAutofit/>
          </a:bodyPr>
          <a:lstStyle>
            <a:lvl1pPr marL="36900" indent="0">
              <a:buNone/>
              <a:defRPr/>
            </a:lvl1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F220894-C699-4E12-9EB4-2318F23E4AA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1113" y="0"/>
            <a:ext cx="4583113" cy="6858000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90346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958888C-33C4-45BB-9053-0F238EBC250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 useBgFill="1"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6676" y="1572884"/>
            <a:ext cx="4100417" cy="2585050"/>
          </a:xfrm>
        </p:spPr>
        <p:txBody>
          <a:bodyPr lIns="274320" anchor="ctr">
            <a:normAutofit/>
          </a:bodyPr>
          <a:lstStyle>
            <a:lvl1pPr algn="l">
              <a:defRPr lang="en-US" sz="40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 useBgFill="1"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6675" y="4157934"/>
            <a:ext cx="4100418" cy="1446364"/>
          </a:xfrm>
        </p:spPr>
        <p:txBody>
          <a:bodyPr lIns="274320" anchor="t">
            <a:normAutofit/>
          </a:bodyPr>
          <a:lstStyle>
            <a:lvl1pPr marL="342900" indent="-306000" algn="l" defTabSz="457200" rtl="0" eaLnBrk="1" latinLnBrk="0" hangingPunct="1">
              <a:lnSpc>
                <a:spcPct val="8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lang="en-US" sz="16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4259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052182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2" r:id="rId1"/>
    <p:sldLayoutId id="2147483681" r:id="rId2"/>
    <p:sldLayoutId id="2147483679" r:id="rId3"/>
    <p:sldLayoutId id="2147483664" r:id="rId4"/>
    <p:sldLayoutId id="2147483660" r:id="rId5"/>
    <p:sldLayoutId id="2147483677" r:id="rId6"/>
    <p:sldLayoutId id="2147483678" r:id="rId7"/>
    <p:sldLayoutId id="2147483663" r:id="rId8"/>
    <p:sldLayoutId id="2147483676" r:id="rId9"/>
    <p:sldLayoutId id="2147483680" r:id="rId10"/>
    <p:sldLayoutId id="2147483659" r:id="rId11"/>
  </p:sldLayoutIdLst>
  <p:hf hdr="0"/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1.xml"/><Relationship Id="rId4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2.xml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Placeholder 21" descr="A picture containing wall, wooden, indoor, table">
            <a:extLst>
              <a:ext uri="{FF2B5EF4-FFF2-40B4-BE49-F238E27FC236}">
                <a16:creationId xmlns:a16="http://schemas.microsoft.com/office/drawing/2014/main" id="{E2888B94-BE50-4E48-8F75-1E8AAD5AFA9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  <p:sp useBgFill="1">
        <p:nvSpPr>
          <p:cNvPr id="18" name="Title 17">
            <a:extLst>
              <a:ext uri="{FF2B5EF4-FFF2-40B4-BE49-F238E27FC236}">
                <a16:creationId xmlns:a16="http://schemas.microsoft.com/office/drawing/2014/main" id="{7F1C1DC8-8566-416D-A699-06A29F45B5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63430" y="1762887"/>
            <a:ext cx="7665140" cy="2140251"/>
          </a:xfrm>
        </p:spPr>
        <p:txBody>
          <a:bodyPr/>
          <a:lstStyle/>
          <a:p>
            <a:r>
              <a:rPr lang="en-US" dirty="0"/>
              <a:t>Bright Learn Coffee shop sales forecast</a:t>
            </a:r>
          </a:p>
        </p:txBody>
      </p:sp>
      <p:sp useBgFill="1">
        <p:nvSpPr>
          <p:cNvPr id="19" name="Subtitle 18">
            <a:extLst>
              <a:ext uri="{FF2B5EF4-FFF2-40B4-BE49-F238E27FC236}">
                <a16:creationId xmlns:a16="http://schemas.microsoft.com/office/drawing/2014/main" id="{B032DA7C-C3AD-4A99-8801-152FB4EE9B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63430" y="3903138"/>
            <a:ext cx="7665139" cy="1191977"/>
          </a:xfrm>
        </p:spPr>
        <p:txBody>
          <a:bodyPr>
            <a:normAutofit/>
          </a:bodyPr>
          <a:lstStyle/>
          <a:p>
            <a:r>
              <a:rPr lang="en-US" dirty="0" err="1"/>
              <a:t>Siphiwosabo</a:t>
            </a:r>
            <a:r>
              <a:rPr lang="en-US" dirty="0"/>
              <a:t> Ndlovu </a:t>
            </a:r>
          </a:p>
          <a:p>
            <a:br>
              <a:rPr lang="en-US" dirty="0"/>
            </a:br>
            <a:r>
              <a:rPr lang="en-ZA" u="sng" dirty="0">
                <a:effectLst/>
              </a:rPr>
              <a:t>Junior Data Analyst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6402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EBA15-A810-4B21-2FB6-0F1A589B9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itle 69">
            <a:extLst>
              <a:ext uri="{FF2B5EF4-FFF2-40B4-BE49-F238E27FC236}">
                <a16:creationId xmlns:a16="http://schemas.microsoft.com/office/drawing/2014/main" id="{41679603-49AE-304C-8C8B-63B851AC8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2275" y="492126"/>
            <a:ext cx="3619500" cy="691755"/>
          </a:xfr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1400" dirty="0"/>
              <a:t>6  Months Sales Forecast </a:t>
            </a:r>
          </a:p>
        </p:txBody>
      </p:sp>
      <p:pic>
        <p:nvPicPr>
          <p:cNvPr id="45" name="Picture Placeholder 44" descr="A picture containing tableware">
            <a:extLst>
              <a:ext uri="{FF2B5EF4-FFF2-40B4-BE49-F238E27FC236}">
                <a16:creationId xmlns:a16="http://schemas.microsoft.com/office/drawing/2014/main" id="{BEE76EB6-0A2E-3F57-B506-6A63B213EAA9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49972" y="0"/>
            <a:ext cx="3793815" cy="2675444"/>
          </a:xfrm>
        </p:spPr>
      </p:pic>
      <p:pic>
        <p:nvPicPr>
          <p:cNvPr id="49" name="Picture Placeholder 48" descr="A picture containing person, table, wooden, meal">
            <a:extLst>
              <a:ext uri="{FF2B5EF4-FFF2-40B4-BE49-F238E27FC236}">
                <a16:creationId xmlns:a16="http://schemas.microsoft.com/office/drawing/2014/main" id="{B9146954-D446-47CE-C152-A5C75DBF8304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4740" y="2675444"/>
            <a:ext cx="7543904" cy="4182556"/>
          </a:xfr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A77D2BB3-D922-46D1-305E-8667BB5E7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95" y="6000749"/>
            <a:ext cx="667286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BF35F6A9-6D10-5FB3-C4EB-7A21124DD56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042275" y="2218945"/>
            <a:ext cx="3619500" cy="2389632"/>
          </a:xfrm>
        </p:spPr>
        <p:txBody>
          <a:bodyPr/>
          <a:lstStyle/>
          <a:p>
            <a:r>
              <a:rPr lang="en-US" dirty="0"/>
              <a:t>Compare sales per store </a:t>
            </a:r>
          </a:p>
          <a:p>
            <a:r>
              <a:rPr lang="en-US" dirty="0"/>
              <a:t>Selling products</a:t>
            </a:r>
          </a:p>
          <a:p>
            <a:r>
              <a:rPr lang="en-US" dirty="0"/>
              <a:t>Most popular times </a:t>
            </a:r>
          </a:p>
          <a:p>
            <a:r>
              <a:rPr lang="en-US" dirty="0"/>
              <a:t>Recommendations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7FF5F51-E342-C25B-2E07-AA73A2A28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00749"/>
            <a:ext cx="753545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2</a:t>
            </a:fld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9183614-9630-2DA1-BE25-0419101809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7275380"/>
              </p:ext>
            </p:extLst>
          </p:nvPr>
        </p:nvGraphicFramePr>
        <p:xfrm>
          <a:off x="285355" y="1183881"/>
          <a:ext cx="2026523" cy="99943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26523">
                  <a:extLst>
                    <a:ext uri="{9D8B030D-6E8A-4147-A177-3AD203B41FA5}">
                      <a16:colId xmlns:a16="http://schemas.microsoft.com/office/drawing/2014/main" val="857229467"/>
                    </a:ext>
                  </a:extLst>
                </a:gridCol>
              </a:tblGrid>
              <a:tr h="38566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ZA" sz="1200" u="none" strike="noStrike" dirty="0">
                          <a:effectLst/>
                        </a:rPr>
                        <a:t>Sum of Revenue</a:t>
                      </a:r>
                      <a:endParaRPr lang="en-ZA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91935073"/>
                  </a:ext>
                </a:extLst>
              </a:tr>
              <a:tr h="61377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ZA" sz="1200" u="none" strike="noStrike" dirty="0">
                          <a:effectLst/>
                        </a:rPr>
                        <a:t>R698 812,33</a:t>
                      </a:r>
                      <a:endParaRPr lang="en-ZA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56244971"/>
                  </a:ext>
                </a:extLst>
              </a:tr>
            </a:tbl>
          </a:graphicData>
        </a:graphic>
      </p:graphicFrame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F1734C1D-37B9-5FE7-9BF6-06152B9ED25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94399218"/>
              </p:ext>
            </p:extLst>
          </p:nvPr>
        </p:nvGraphicFramePr>
        <p:xfrm>
          <a:off x="815954" y="2841714"/>
          <a:ext cx="5762646" cy="3533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841750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itle 69">
            <a:extLst>
              <a:ext uri="{FF2B5EF4-FFF2-40B4-BE49-F238E27FC236}">
                <a16:creationId xmlns:a16="http://schemas.microsoft.com/office/drawing/2014/main" id="{AD0FAE4B-37EE-4B93-881F-3DB9A2B03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2275" y="492126"/>
            <a:ext cx="3619500" cy="1190370"/>
          </a:xfrm>
        </p:spPr>
        <p:txBody>
          <a:bodyPr>
            <a:normAutofit/>
          </a:bodyPr>
          <a:lstStyle/>
          <a:p>
            <a:r>
              <a:rPr lang="en-US" sz="1400" dirty="0"/>
              <a:t>6  Months Sales Forecast </a:t>
            </a:r>
          </a:p>
        </p:txBody>
      </p:sp>
      <p:pic>
        <p:nvPicPr>
          <p:cNvPr id="45" name="Picture Placeholder 44" descr="A picture containing tableware">
            <a:extLst>
              <a:ext uri="{FF2B5EF4-FFF2-40B4-BE49-F238E27FC236}">
                <a16:creationId xmlns:a16="http://schemas.microsoft.com/office/drawing/2014/main" id="{1A565340-6612-43BB-8B80-C72700DD933C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49972" y="0"/>
            <a:ext cx="3793815" cy="2675444"/>
          </a:xfrm>
        </p:spPr>
      </p:pic>
      <p:pic>
        <p:nvPicPr>
          <p:cNvPr id="49" name="Picture Placeholder 48" descr="A picture containing person, table, wooden, meal">
            <a:extLst>
              <a:ext uri="{FF2B5EF4-FFF2-40B4-BE49-F238E27FC236}">
                <a16:creationId xmlns:a16="http://schemas.microsoft.com/office/drawing/2014/main" id="{0D8BC8F5-4101-493D-9289-8D175DE9D79C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4740" y="2675444"/>
            <a:ext cx="7543904" cy="4182556"/>
          </a:xfr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96E3B60D-8F61-4010-B5A2-75CCE0009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95" y="6000749"/>
            <a:ext cx="667286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B346791-1682-49BA-8758-84E6A10FB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00749"/>
            <a:ext cx="753545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3</a:t>
            </a:fld>
            <a:endParaRPr lang="en-US" dirty="0"/>
          </a:p>
        </p:txBody>
      </p:sp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D87034F8-57DE-0844-EBED-F66BE319DC4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91935376"/>
              </p:ext>
            </p:extLst>
          </p:nvPr>
        </p:nvGraphicFramePr>
        <p:xfrm>
          <a:off x="2377472" y="1877663"/>
          <a:ext cx="6672864" cy="46097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774333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2D2B6-7447-D39A-F14E-8D5032AF6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7F805-56B1-A296-B541-A75DA950C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64591" y="542597"/>
            <a:ext cx="7649420" cy="629308"/>
          </a:xfrm>
        </p:spPr>
        <p:txBody>
          <a:bodyPr>
            <a:normAutofit fontScale="90000"/>
          </a:bodyPr>
          <a:lstStyle/>
          <a:p>
            <a:r>
              <a:rPr lang="en-US" dirty="0"/>
              <a:t>Sales by Month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7AA16E7-6256-8F40-36CA-F581EA81D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00749"/>
            <a:ext cx="753545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4</a:t>
            </a:fld>
            <a:endParaRPr lang="en-US" dirty="0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28B390FB-26C9-1137-9B3D-4CB472C8A388}"/>
              </a:ext>
            </a:extLst>
          </p:cNvPr>
          <p:cNvGraphicFramePr>
            <a:graphicFrameLocks/>
          </p:cNvGraphicFramePr>
          <p:nvPr/>
        </p:nvGraphicFramePr>
        <p:xfrm>
          <a:off x="2750677" y="1567081"/>
          <a:ext cx="8377398" cy="44336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2935618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35E25-B514-071A-835D-42688AB21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D313E-A99A-1C0D-99A8-E2C3B2FE88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7697" y="492127"/>
            <a:ext cx="6484981" cy="888100"/>
          </a:xfrm>
        </p:spPr>
        <p:txBody>
          <a:bodyPr>
            <a:normAutofit/>
          </a:bodyPr>
          <a:lstStyle/>
          <a:p>
            <a:r>
              <a:rPr lang="en-US" dirty="0"/>
              <a:t>Sales by Location 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6BDB5EF7-759C-3F3D-5C8E-B6082C77B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00749"/>
            <a:ext cx="753545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5</a:t>
            </a:fld>
            <a:endParaRPr lang="en-US" dirty="0"/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BA56A48A-5587-E15C-0C35-85933A2CC4C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2538244"/>
              </p:ext>
            </p:extLst>
          </p:nvPr>
        </p:nvGraphicFramePr>
        <p:xfrm>
          <a:off x="2693526" y="1915064"/>
          <a:ext cx="6484980" cy="42959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5243208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3047E-FBFD-4F79-BCA5-10E69740F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</p:spPr>
        <p:txBody>
          <a:bodyPr>
            <a:normAutofit/>
          </a:bodyPr>
          <a:lstStyle/>
          <a:p>
            <a:pPr>
              <a:defRPr sz="1600" b="1" i="0" u="none" strike="noStrike" kern="1200" spc="100" baseline="0">
                <a:solidFill>
                  <a:sysClr val="window" lastClr="FFFFFF">
                    <a:lumMod val="95000"/>
                  </a:sys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 sz="1600" b="1" spc="10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Total Sales by Time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44F56172-F0A1-4C57-A121-33FE46441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00749"/>
            <a:ext cx="753545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A98EE3D-8CD1-4C3F-BD1C-C98C9596463C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ACFC52A-F191-BFA2-384B-79D5F71FED8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44303669"/>
              </p:ext>
            </p:extLst>
          </p:nvPr>
        </p:nvGraphicFramePr>
        <p:xfrm>
          <a:off x="914400" y="2076450"/>
          <a:ext cx="10353675" cy="3714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5273869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CF9F29A-3EE6-7FC8-BCB3-BE7469D24A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Product Category</a:t>
            </a:r>
          </a:p>
          <a:p>
            <a:endParaRPr lang="en-US" dirty="0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DC0FE26C-FAE1-711D-81DC-EDCB305ADF6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47807527"/>
              </p:ext>
            </p:extLst>
          </p:nvPr>
        </p:nvGraphicFramePr>
        <p:xfrm>
          <a:off x="1153663" y="419280"/>
          <a:ext cx="10008918" cy="43751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798228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2889" y="88920"/>
            <a:ext cx="9440034" cy="680691"/>
          </a:xfrm>
        </p:spPr>
        <p:txBody>
          <a:bodyPr>
            <a:normAutofit fontScale="90000"/>
          </a:bodyPr>
          <a:lstStyle/>
          <a:p>
            <a:r>
              <a:rPr lang="en-US" dirty="0"/>
              <a:t>Top Selling product type by store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7560" y="4882201"/>
            <a:ext cx="8264244" cy="436942"/>
          </a:xfrm>
        </p:spPr>
        <p:txBody>
          <a:bodyPr/>
          <a:lstStyle/>
          <a:p>
            <a:r>
              <a:rPr lang="en-US" dirty="0"/>
              <a:t>Product Category</a:t>
            </a: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65336068-27F1-950A-5EC7-F579F827E6F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98309048"/>
              </p:ext>
            </p:extLst>
          </p:nvPr>
        </p:nvGraphicFramePr>
        <p:xfrm>
          <a:off x="1207560" y="857406"/>
          <a:ext cx="9766300" cy="393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3120413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7C830-D900-A9AD-90B4-F46C1E967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14FCA-1401-8F87-8355-BA2EFFB19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0216" y="232353"/>
            <a:ext cx="9440034" cy="680691"/>
          </a:xfrm>
        </p:spPr>
        <p:txBody>
          <a:bodyPr>
            <a:normAutofit/>
          </a:bodyPr>
          <a:lstStyle/>
          <a:p>
            <a:pPr>
              <a:defRPr sz="2128" b="1" i="0" u="none" strike="noStrike" kern="1200" baseline="0">
                <a:solidFill>
                  <a:srgbClr val="DADADA"/>
                </a:solidFill>
                <a:latin typeface="+mn-lt"/>
                <a:ea typeface="+mn-ea"/>
                <a:cs typeface="+mn-cs"/>
              </a:defRPr>
            </a:pPr>
            <a:r>
              <a:rPr lang="en-GB" b="1" dirty="0">
                <a:solidFill>
                  <a:srgbClr val="DADADA"/>
                </a:solidFill>
              </a:rPr>
              <a:t>Lowest selling products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8CB79B-A58A-03E5-653C-222350B4F7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18111" y="5848359"/>
            <a:ext cx="8264244" cy="436942"/>
          </a:xfrm>
        </p:spPr>
        <p:txBody>
          <a:bodyPr/>
          <a:lstStyle/>
          <a:p>
            <a:r>
              <a:rPr lang="en-US" dirty="0"/>
              <a:t>Product Category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2AB9AA8C-0D7F-AF09-3B79-45046C30652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83597426"/>
              </p:ext>
            </p:extLst>
          </p:nvPr>
        </p:nvGraphicFramePr>
        <p:xfrm>
          <a:off x="1233855" y="1068903"/>
          <a:ext cx="9440034" cy="47794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8622824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19A96-68DF-6BE8-134B-E69E7151D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75109-4890-E7CD-E192-C26366D7B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889" y="88920"/>
            <a:ext cx="9440034" cy="680691"/>
          </a:xfrm>
        </p:spPr>
        <p:txBody>
          <a:bodyPr>
            <a:normAutofit fontScale="90000"/>
          </a:bodyPr>
          <a:lstStyle/>
          <a:p>
            <a:r>
              <a:rPr lang="en-US" dirty="0"/>
              <a:t>Sales by product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260B9836-EB5B-2BC6-A238-16BAA778E46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43224865"/>
              </p:ext>
            </p:extLst>
          </p:nvPr>
        </p:nvGraphicFramePr>
        <p:xfrm>
          <a:off x="1984656" y="1049372"/>
          <a:ext cx="7228355" cy="40919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3487776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lide Number Placeholder 5">
            <a:extLst>
              <a:ext uri="{FF2B5EF4-FFF2-40B4-BE49-F238E27FC236}">
                <a16:creationId xmlns:a16="http://schemas.microsoft.com/office/drawing/2014/main" id="{F40844C9-67FE-4E2E-AA09-6FF959A68FF0}"/>
              </a:ext>
            </a:extLst>
          </p:cNvPr>
          <p:cNvSpPr txBox="1">
            <a:spLocks/>
          </p:cNvSpPr>
          <p:nvPr/>
        </p:nvSpPr>
        <p:spPr>
          <a:xfrm>
            <a:off x="10514011" y="6000749"/>
            <a:ext cx="753545" cy="36512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 algn="r">
              <a:buNone/>
            </a:pPr>
            <a:fld id="{3A98EE3D-8CD1-4C3F-BD1C-C98C9596463C}" type="slidenum">
              <a:rPr lang="en-US"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rPr>
              <a:pPr marL="36900" indent="0" algn="r">
                <a:buNone/>
              </a:pPr>
              <a:t>11</a:t>
            </a:fld>
            <a:endParaRPr lang="en-US" sz="1000" dirty="0">
              <a:solidFill>
                <a:schemeClr val="tx1">
                  <a:lumMod val="95000"/>
                </a:schemeClr>
              </a:solidFill>
              <a:effectLst>
                <a:outerShdw blurRad="50800" dist="38100" dir="2700000" algn="tl" rotWithShape="0">
                  <a:schemeClr val="bg1">
                    <a:alpha val="43000"/>
                  </a:schemeClr>
                </a:outerShdw>
              </a:effectLst>
            </a:endParaRPr>
          </a:p>
        </p:txBody>
      </p:sp>
      <p:graphicFrame>
        <p:nvGraphicFramePr>
          <p:cNvPr id="11" name="Bar Chart ">
            <a:extLst>
              <a:ext uri="{FF2B5EF4-FFF2-40B4-BE49-F238E27FC236}">
                <a16:creationId xmlns:a16="http://schemas.microsoft.com/office/drawing/2014/main" id="{4466EDF4-ED64-B4BC-17D4-CD6B4B27FBF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62831255"/>
              </p:ext>
            </p:extLst>
          </p:nvPr>
        </p:nvGraphicFramePr>
        <p:xfrm>
          <a:off x="924443" y="369332"/>
          <a:ext cx="10807482" cy="63592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96723AA9-17E2-C04D-F727-C71757F7D0EA}"/>
              </a:ext>
            </a:extLst>
          </p:cNvPr>
          <p:cNvSpPr txBox="1"/>
          <p:nvPr/>
        </p:nvSpPr>
        <p:spPr>
          <a:xfrm>
            <a:off x="3985404" y="0"/>
            <a:ext cx="29450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Quantity sales by </a:t>
            </a:r>
            <a:r>
              <a:rPr lang="en-US" dirty="0" err="1"/>
              <a:t>Catergoty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165008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B1F25-21B6-8B4D-9450-D1435D4A1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lide Number Placeholder 5">
            <a:extLst>
              <a:ext uri="{FF2B5EF4-FFF2-40B4-BE49-F238E27FC236}">
                <a16:creationId xmlns:a16="http://schemas.microsoft.com/office/drawing/2014/main" id="{23BA47D7-8147-28D7-6558-0F731602ACDD}"/>
              </a:ext>
            </a:extLst>
          </p:cNvPr>
          <p:cNvSpPr txBox="1">
            <a:spLocks/>
          </p:cNvSpPr>
          <p:nvPr/>
        </p:nvSpPr>
        <p:spPr>
          <a:xfrm>
            <a:off x="10514011" y="6000749"/>
            <a:ext cx="753545" cy="36512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 algn="r">
              <a:buNone/>
            </a:pPr>
            <a:fld id="{3A98EE3D-8CD1-4C3F-BD1C-C98C9596463C}" type="slidenum">
              <a:rPr lang="en-US"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rPr>
              <a:pPr marL="36900" indent="0" algn="r">
                <a:buNone/>
              </a:pPr>
              <a:t>12</a:t>
            </a:fld>
            <a:endParaRPr lang="en-US" sz="1000" dirty="0">
              <a:solidFill>
                <a:schemeClr val="tx1">
                  <a:lumMod val="95000"/>
                </a:schemeClr>
              </a:solidFill>
              <a:effectLst>
                <a:outerShdw blurRad="50800" dist="38100" dir="2700000" algn="tl" rotWithShape="0">
                  <a:schemeClr val="bg1">
                    <a:alpha val="43000"/>
                  </a:schemeClr>
                </a:outerShdw>
              </a:effectLst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9A47245D-E79C-34CD-3927-D34AC9BE15E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28311170"/>
              </p:ext>
            </p:extLst>
          </p:nvPr>
        </p:nvGraphicFramePr>
        <p:xfrm>
          <a:off x="1035169" y="759125"/>
          <a:ext cx="9478841" cy="52416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1853352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0677C9-3E42-427F-93B8-5266929064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Have campaigns during the slow peak hours </a:t>
            </a:r>
          </a:p>
          <a:p>
            <a:r>
              <a:rPr lang="en-US" dirty="0"/>
              <a:t>Doing buy one get one free to pair the top selling products and not selling </a:t>
            </a:r>
          </a:p>
          <a:p>
            <a:r>
              <a:rPr lang="en-US" dirty="0"/>
              <a:t>Introduce a loyalty program for buyers to return </a:t>
            </a:r>
          </a:p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5018B6D-E395-49AD-92AD-AD69E3AB40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DB9D020-1E25-453D-83DF-1420ACD396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/>
          <a:lstStyle/>
          <a:p>
            <a:r>
              <a:rPr lang="en-US" dirty="0"/>
              <a:t>Bulky buy on products that are selling </a:t>
            </a:r>
          </a:p>
          <a:p>
            <a:r>
              <a:rPr lang="en-US" dirty="0"/>
              <a:t>Keeping the data tracking so it helps with the store performances </a:t>
            </a:r>
          </a:p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36CB0C3-DA3A-4D5B-BBF9-EC64C8919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18090" y="6183311"/>
            <a:ext cx="753545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256B7E-1633-44AB-8584-82DF5B726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</p:spPr>
        <p:txBody>
          <a:bodyPr/>
          <a:lstStyle/>
          <a:p>
            <a:r>
              <a:rPr lang="en-US" dirty="0"/>
              <a:t>Recommendations </a:t>
            </a:r>
          </a:p>
        </p:txBody>
      </p:sp>
    </p:spTree>
    <p:extLst>
      <p:ext uri="{BB962C8B-B14F-4D97-AF65-F5344CB8AC3E}">
        <p14:creationId xmlns:p14="http://schemas.microsoft.com/office/powerpoint/2010/main" val="25631196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E423A-00D6-7321-6DB8-54C34771B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lide Number Placeholder 5">
            <a:extLst>
              <a:ext uri="{FF2B5EF4-FFF2-40B4-BE49-F238E27FC236}">
                <a16:creationId xmlns:a16="http://schemas.microsoft.com/office/drawing/2014/main" id="{F7D48105-51BE-4431-E3F0-0B61352A9366}"/>
              </a:ext>
            </a:extLst>
          </p:cNvPr>
          <p:cNvSpPr txBox="1">
            <a:spLocks/>
          </p:cNvSpPr>
          <p:nvPr/>
        </p:nvSpPr>
        <p:spPr>
          <a:xfrm>
            <a:off x="10514011" y="6000749"/>
            <a:ext cx="753545" cy="36512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 algn="r">
              <a:buNone/>
            </a:pPr>
            <a:fld id="{3A98EE3D-8CD1-4C3F-BD1C-C98C9596463C}" type="slidenum">
              <a:rPr lang="en-US"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rPr>
              <a:pPr marL="36900" indent="0" algn="r">
                <a:buNone/>
              </a:pPr>
              <a:t>14</a:t>
            </a:fld>
            <a:endParaRPr lang="en-US" sz="1000" dirty="0">
              <a:solidFill>
                <a:schemeClr val="tx1">
                  <a:lumMod val="95000"/>
                </a:schemeClr>
              </a:solidFill>
              <a:effectLst>
                <a:outerShdw blurRad="50800" dist="38100" dir="2700000" algn="tl" rotWithShape="0">
                  <a:schemeClr val="bg1">
                    <a:alpha val="43000"/>
                  </a:schemeClr>
                </a:outerShdw>
              </a:effectLst>
            </a:endParaRPr>
          </a:p>
        </p:txBody>
      </p:sp>
      <p:sp useBgFill="1">
        <p:nvSpPr>
          <p:cNvPr id="3" name="Title 1">
            <a:extLst>
              <a:ext uri="{FF2B5EF4-FFF2-40B4-BE49-F238E27FC236}">
                <a16:creationId xmlns:a16="http://schemas.microsoft.com/office/drawing/2014/main" id="{27CF6F2E-8914-568A-4C3B-B4F8E870CF05}"/>
              </a:ext>
            </a:extLst>
          </p:cNvPr>
          <p:cNvSpPr txBox="1">
            <a:spLocks/>
          </p:cNvSpPr>
          <p:nvPr/>
        </p:nvSpPr>
        <p:spPr>
          <a:xfrm>
            <a:off x="2388880" y="1782793"/>
            <a:ext cx="5719950" cy="3292414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94899840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VTI" id="{35C4A07C-0176-4A32-9BCB-B016516853F0}" vid="{9B70D35C-BCA8-4715-BB49-8BE54A7FC0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1D2C913-C7E9-427D-8C7B-4D2DB36F60B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F06F3F2-9398-47DD-B339-5E062F7F29B5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80EF115D-73C4-4C20-A44F-97481CD74CD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SlateVTI</Template>
  <TotalTime>72</TotalTime>
  <Words>196</Words>
  <Application>Microsoft Macintosh PowerPoint</Application>
  <PresentationFormat>Widescreen</PresentationFormat>
  <Paragraphs>68</Paragraphs>
  <Slides>14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Calisto MT</vt:lpstr>
      <vt:lpstr>Wingdings 2</vt:lpstr>
      <vt:lpstr>SlateVTI</vt:lpstr>
      <vt:lpstr>Bright Learn Coffee shop sales forecast</vt:lpstr>
      <vt:lpstr>6  Months Sales Forecast </vt:lpstr>
      <vt:lpstr>6  Months Sales Forecast </vt:lpstr>
      <vt:lpstr>Sales by Month</vt:lpstr>
      <vt:lpstr>Sales by Location </vt:lpstr>
      <vt:lpstr>Total Sales by Time</vt:lpstr>
      <vt:lpstr>PowerPoint Presentation</vt:lpstr>
      <vt:lpstr>Top Selling product type by store </vt:lpstr>
      <vt:lpstr>Lowest selling products</vt:lpstr>
      <vt:lpstr>Sales by product</vt:lpstr>
      <vt:lpstr>PowerPoint Presentation</vt:lpstr>
      <vt:lpstr>PowerPoint Presentation</vt:lpstr>
      <vt:lpstr>Recommendations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Sabo Ndlovu</dc:creator>
  <cp:lastModifiedBy>Sabo Ndlovu</cp:lastModifiedBy>
  <cp:revision>6</cp:revision>
  <dcterms:created xsi:type="dcterms:W3CDTF">2026-03-28T15:27:19Z</dcterms:created>
  <dcterms:modified xsi:type="dcterms:W3CDTF">2026-03-28T17:03:11Z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